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9144000" cy="51435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457200" y="69056"/>
            <a:ext cx="8229600" cy="1131094"/>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457200" y="1200150"/>
            <a:ext cx="8229600" cy="394335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4419600" y="4627562"/>
            <a:ext cx="2133600" cy="2794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tif"/></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tif"/></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tif"/></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tif"/></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 Id="rId3" Type="http://schemas.openxmlformats.org/officeDocument/2006/relationships/image" Target="../media/image2.jpe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tif"/></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C8E6F5"/>
        </a:solidFill>
      </p:bgPr>
    </p:bg>
    <p:spTree>
      <p:nvGrpSpPr>
        <p:cNvPr id="1" name=""/>
        <p:cNvGrpSpPr/>
        <p:nvPr/>
      </p:nvGrpSpPr>
      <p:grpSpPr>
        <a:xfrm>
          <a:off x="0" y="0"/>
          <a:ext cx="0" cy="0"/>
          <a:chOff x="0" y="0"/>
          <a:chExt cx="0" cy="0"/>
        </a:xfrm>
      </p:grpSpPr>
      <p:sp>
        <p:nvSpPr>
          <p:cNvPr id="20" name="Shape 0"/>
          <p:cNvSpPr/>
          <p:nvPr/>
        </p:nvSpPr>
        <p:spPr>
          <a:xfrm>
            <a:off x="-2286000" y="3017520"/>
            <a:ext cx="13716000" cy="4572001"/>
          </a:xfrm>
          <a:prstGeom prst="ellipse">
            <a:avLst/>
          </a:prstGeom>
          <a:solidFill>
            <a:srgbClr val="FFFFFF"/>
          </a:solidFill>
          <a:ln w="12700">
            <a:solidFill>
              <a:srgbClr val="FFFFFF"/>
            </a:solidFill>
          </a:ln>
        </p:spPr>
        <p:txBody>
          <a:bodyPr lIns="45719" rIns="45719"/>
          <a:lstStyle/>
          <a:p>
            <a:pPr/>
          </a:p>
        </p:txBody>
      </p:sp>
      <p:sp>
        <p:nvSpPr>
          <p:cNvPr id="21" name="Text 1"/>
          <p:cNvSpPr txBox="1"/>
          <p:nvPr/>
        </p:nvSpPr>
        <p:spPr>
          <a:xfrm>
            <a:off x="365759" y="1864233"/>
            <a:ext cx="8412482" cy="61672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400">
                <a:solidFill>
                  <a:srgbClr val="111111"/>
                </a:solidFill>
                <a:latin typeface="Arial"/>
                <a:ea typeface="Arial"/>
                <a:cs typeface="Arial"/>
                <a:sym typeface="Arial"/>
              </a:defRPr>
            </a:lvl1pPr>
          </a:lstStyle>
          <a:p>
            <a:pPr/>
            <a:r>
              <a:t>Design Lab Project (ME-306)</a:t>
            </a:r>
          </a:p>
        </p:txBody>
      </p:sp>
      <p:sp>
        <p:nvSpPr>
          <p:cNvPr id="22" name="Text 2"/>
          <p:cNvSpPr txBox="1"/>
          <p:nvPr/>
        </p:nvSpPr>
        <p:spPr>
          <a:xfrm>
            <a:off x="365759" y="2598024"/>
            <a:ext cx="8412482" cy="29607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100">
                <a:solidFill>
                  <a:srgbClr val="111111"/>
                </a:solidFill>
                <a:latin typeface="Arial"/>
                <a:ea typeface="Arial"/>
                <a:cs typeface="Arial"/>
                <a:sym typeface="Arial"/>
              </a:defRPr>
            </a:lvl1pPr>
          </a:lstStyle>
          <a:p>
            <a:pPr/>
            <a:r>
              <a:t>Hybrid Earthquake Vibration Control for Buildings</a:t>
            </a:r>
          </a:p>
        </p:txBody>
      </p:sp>
      <p:sp>
        <p:nvSpPr>
          <p:cNvPr id="23" name="Text 3"/>
          <p:cNvSpPr txBox="1"/>
          <p:nvPr/>
        </p:nvSpPr>
        <p:spPr>
          <a:xfrm>
            <a:off x="365759" y="3275380"/>
            <a:ext cx="5486401" cy="1061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200">
                <a:solidFill>
                  <a:srgbClr val="111111"/>
                </a:solidFill>
                <a:latin typeface="Arial"/>
                <a:ea typeface="Arial"/>
                <a:cs typeface="Arial"/>
                <a:sym typeface="Arial"/>
              </a:defRPr>
            </a:pPr>
            <a:r>
              <a:t>Group Members - Tuesday Group D</a:t>
            </a:r>
          </a:p>
          <a:p>
            <a:pPr>
              <a:defRPr sz="1200">
                <a:solidFill>
                  <a:srgbClr val="111111"/>
                </a:solidFill>
                <a:latin typeface="Arial"/>
                <a:ea typeface="Arial"/>
                <a:cs typeface="Arial"/>
                <a:sym typeface="Arial"/>
              </a:defRPr>
            </a:pPr>
            <a:r>
              <a:t>Bewele Suyog Asaram (2023MEB1337)</a:t>
            </a:r>
          </a:p>
          <a:p>
            <a:pPr>
              <a:defRPr sz="1200">
                <a:solidFill>
                  <a:srgbClr val="111111"/>
                </a:solidFill>
                <a:latin typeface="Arial"/>
                <a:ea typeface="Arial"/>
                <a:cs typeface="Arial"/>
                <a:sym typeface="Arial"/>
              </a:defRPr>
            </a:pPr>
            <a:r>
              <a:t>Daggolu Sai Mohith Reddy (2023MEB1338)</a:t>
            </a:r>
          </a:p>
          <a:p>
            <a:pPr>
              <a:defRPr sz="1200">
                <a:solidFill>
                  <a:srgbClr val="111111"/>
                </a:solidFill>
                <a:latin typeface="Arial"/>
                <a:ea typeface="Arial"/>
                <a:cs typeface="Arial"/>
                <a:sym typeface="Arial"/>
              </a:defRPr>
            </a:pPr>
            <a:r>
              <a:t>Deepanshi Dhir (2023MEB1339)</a:t>
            </a:r>
          </a:p>
          <a:p>
            <a:pPr>
              <a:defRPr sz="1200">
                <a:solidFill>
                  <a:srgbClr val="111111"/>
                </a:solidFill>
                <a:latin typeface="Arial"/>
                <a:ea typeface="Arial"/>
                <a:cs typeface="Arial"/>
                <a:sym typeface="Arial"/>
              </a:defRPr>
            </a:pPr>
            <a:r>
              <a:t>Dev Agarwal (2023MEB1340)</a:t>
            </a:r>
          </a:p>
          <a:p>
            <a:pPr>
              <a:defRPr sz="1200">
                <a:solidFill>
                  <a:srgbClr val="111111"/>
                </a:solidFill>
                <a:latin typeface="Arial"/>
                <a:ea typeface="Arial"/>
                <a:cs typeface="Arial"/>
                <a:sym typeface="Arial"/>
              </a:defRPr>
            </a:pPr>
            <a:r>
              <a:t>Diya Seal (2023MEB1341)</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C8E6F5"/>
        </a:solidFill>
      </p:bgPr>
    </p:bg>
    <p:spTree>
      <p:nvGrpSpPr>
        <p:cNvPr id="1" name=""/>
        <p:cNvGrpSpPr/>
        <p:nvPr/>
      </p:nvGrpSpPr>
      <p:grpSpPr>
        <a:xfrm>
          <a:off x="0" y="0"/>
          <a:ext cx="0" cy="0"/>
          <a:chOff x="0" y="0"/>
          <a:chExt cx="0" cy="0"/>
        </a:xfrm>
      </p:grpSpPr>
      <p:sp>
        <p:nvSpPr>
          <p:cNvPr id="25" name="Shape 0"/>
          <p:cNvSpPr/>
          <p:nvPr/>
        </p:nvSpPr>
        <p:spPr>
          <a:xfrm>
            <a:off x="-2286000" y="3017520"/>
            <a:ext cx="13716000" cy="4572001"/>
          </a:xfrm>
          <a:prstGeom prst="ellipse">
            <a:avLst/>
          </a:prstGeom>
          <a:solidFill>
            <a:srgbClr val="FFFFFF"/>
          </a:solidFill>
          <a:ln w="12700">
            <a:solidFill>
              <a:srgbClr val="FFFFFF"/>
            </a:solidFill>
          </a:ln>
        </p:spPr>
        <p:txBody>
          <a:bodyPr lIns="45719" rIns="45719"/>
          <a:lstStyle/>
          <a:p>
            <a:pPr/>
          </a:p>
        </p:txBody>
      </p:sp>
      <p:sp>
        <p:nvSpPr>
          <p:cNvPr id="26" name="Text 1"/>
          <p:cNvSpPr txBox="1"/>
          <p:nvPr/>
        </p:nvSpPr>
        <p:spPr>
          <a:xfrm>
            <a:off x="365759" y="230051"/>
            <a:ext cx="8412482" cy="55488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000">
                <a:solidFill>
                  <a:srgbClr val="111111"/>
                </a:solidFill>
                <a:latin typeface="Arial"/>
                <a:ea typeface="Arial"/>
                <a:cs typeface="Arial"/>
                <a:sym typeface="Arial"/>
              </a:defRPr>
            </a:lvl1pPr>
          </a:lstStyle>
          <a:p>
            <a:pPr/>
            <a:r>
              <a:t>Problem Statement</a:t>
            </a:r>
          </a:p>
        </p:txBody>
      </p:sp>
      <p:sp>
        <p:nvSpPr>
          <p:cNvPr id="27" name="Text 2"/>
          <p:cNvSpPr txBox="1"/>
          <p:nvPr/>
        </p:nvSpPr>
        <p:spPr>
          <a:xfrm>
            <a:off x="365759" y="1010248"/>
            <a:ext cx="8412482"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111111"/>
                </a:solidFill>
                <a:latin typeface="Arial"/>
                <a:ea typeface="Arial"/>
                <a:cs typeface="Arial"/>
                <a:sym typeface="Arial"/>
              </a:defRPr>
            </a:lvl1pPr>
          </a:lstStyle>
          <a:p>
            <a:pPr/>
            <a:r>
              <a:t>Introduction</a:t>
            </a:r>
          </a:p>
        </p:txBody>
      </p:sp>
      <p:sp>
        <p:nvSpPr>
          <p:cNvPr id="28" name="Text 3"/>
          <p:cNvSpPr txBox="1"/>
          <p:nvPr/>
        </p:nvSpPr>
        <p:spPr>
          <a:xfrm>
            <a:off x="365759" y="1451215"/>
            <a:ext cx="8229601" cy="88318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marL="342900" indent="-342900">
              <a:spcBef>
                <a:spcPts val="200"/>
              </a:spcBef>
              <a:buSzPct val="100000"/>
              <a:buChar char="•"/>
              <a:defRPr sz="1400">
                <a:solidFill>
                  <a:srgbClr val="111111"/>
                </a:solidFill>
                <a:latin typeface="Arial"/>
                <a:ea typeface="Arial"/>
                <a:cs typeface="Arial"/>
                <a:sym typeface="Arial"/>
              </a:defRPr>
            </a:pPr>
            <a:r>
              <a:t>Earthquakes generate dynamic lateral forces in structures</a:t>
            </a:r>
          </a:p>
          <a:p>
            <a:pPr marL="342900" indent="-342900">
              <a:spcBef>
                <a:spcPts val="200"/>
              </a:spcBef>
              <a:buSzPct val="100000"/>
              <a:buChar char="•"/>
              <a:defRPr sz="1400">
                <a:solidFill>
                  <a:srgbClr val="111111"/>
                </a:solidFill>
                <a:latin typeface="Arial"/>
                <a:ea typeface="Arial"/>
                <a:cs typeface="Arial"/>
                <a:sym typeface="Arial"/>
              </a:defRPr>
            </a:pPr>
            <a:r>
              <a:t>These forces cause vibrations, instability, and possible failure</a:t>
            </a:r>
          </a:p>
          <a:p>
            <a:pPr marL="342900" indent="-342900">
              <a:spcBef>
                <a:spcPts val="200"/>
              </a:spcBef>
              <a:buSzPct val="100000"/>
              <a:buChar char="•"/>
              <a:defRPr sz="1400">
                <a:solidFill>
                  <a:srgbClr val="111111"/>
                </a:solidFill>
                <a:latin typeface="Arial"/>
                <a:ea typeface="Arial"/>
                <a:cs typeface="Arial"/>
                <a:sym typeface="Arial"/>
              </a:defRPr>
            </a:pPr>
            <a:r>
              <a:t>Traditional buildings rely only on structural strength</a:t>
            </a:r>
          </a:p>
          <a:p>
            <a:pPr marL="342900" indent="-342900">
              <a:spcBef>
                <a:spcPts val="200"/>
              </a:spcBef>
              <a:buSzPct val="100000"/>
              <a:buChar char="•"/>
              <a:defRPr sz="1400">
                <a:solidFill>
                  <a:srgbClr val="111111"/>
                </a:solidFill>
                <a:latin typeface="Arial"/>
                <a:ea typeface="Arial"/>
                <a:cs typeface="Arial"/>
                <a:sym typeface="Arial"/>
              </a:defRPr>
            </a:pPr>
            <a:r>
              <a:t>Modern approach: </a:t>
            </a:r>
            <a:r>
              <a:rPr b="1"/>
              <a:t>Control vibrations instead of resisting them</a:t>
            </a:r>
          </a:p>
        </p:txBody>
      </p:sp>
      <p:sp>
        <p:nvSpPr>
          <p:cNvPr id="29" name="Text 4"/>
          <p:cNvSpPr txBox="1"/>
          <p:nvPr/>
        </p:nvSpPr>
        <p:spPr>
          <a:xfrm>
            <a:off x="365759" y="2592160"/>
            <a:ext cx="8412482"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111111"/>
                </a:solidFill>
                <a:latin typeface="Arial"/>
                <a:ea typeface="Arial"/>
                <a:cs typeface="Arial"/>
                <a:sym typeface="Arial"/>
              </a:defRPr>
            </a:lvl1pPr>
          </a:lstStyle>
          <a:p>
            <a:pPr/>
            <a:r>
              <a:t>Problem Statement</a:t>
            </a:r>
          </a:p>
        </p:txBody>
      </p:sp>
      <p:sp>
        <p:nvSpPr>
          <p:cNvPr id="30" name="Text 5"/>
          <p:cNvSpPr txBox="1"/>
          <p:nvPr/>
        </p:nvSpPr>
        <p:spPr>
          <a:xfrm>
            <a:off x="365759" y="3101708"/>
            <a:ext cx="8229601" cy="156898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marL="342900" indent="-342900">
              <a:spcBef>
                <a:spcPts val="200"/>
              </a:spcBef>
              <a:buSzPct val="100000"/>
              <a:buChar char="•"/>
              <a:defRPr sz="1400">
                <a:solidFill>
                  <a:srgbClr val="111111"/>
                </a:solidFill>
                <a:latin typeface="Arial"/>
                <a:ea typeface="Arial"/>
                <a:cs typeface="Arial"/>
                <a:sym typeface="Arial"/>
              </a:defRPr>
            </a:pPr>
            <a:r>
              <a:t>Excessive vibrations during earthquakes lead to:</a:t>
            </a:r>
          </a:p>
          <a:p>
            <a:pPr lvl="1" marL="508000" indent="-254000">
              <a:spcBef>
                <a:spcPts val="200"/>
              </a:spcBef>
              <a:buSzPct val="100000"/>
              <a:buChar char="•"/>
              <a:defRPr sz="1400">
                <a:solidFill>
                  <a:srgbClr val="111111"/>
                </a:solidFill>
                <a:latin typeface="Arial"/>
                <a:ea typeface="Arial"/>
                <a:cs typeface="Arial"/>
                <a:sym typeface="Arial"/>
              </a:defRPr>
            </a:pPr>
            <a:r>
              <a:t>Structural damage</a:t>
            </a:r>
          </a:p>
          <a:p>
            <a:pPr lvl="1" marL="508000" indent="-254000">
              <a:spcBef>
                <a:spcPts val="200"/>
              </a:spcBef>
              <a:buSzPct val="100000"/>
              <a:buChar char="•"/>
              <a:defRPr sz="1400">
                <a:solidFill>
                  <a:srgbClr val="111111"/>
                </a:solidFill>
                <a:latin typeface="Arial"/>
                <a:ea typeface="Arial"/>
                <a:cs typeface="Arial"/>
                <a:sym typeface="Arial"/>
              </a:defRPr>
            </a:pPr>
            <a:r>
              <a:t>Resonance effects</a:t>
            </a:r>
          </a:p>
          <a:p>
            <a:pPr lvl="1" marL="508000" indent="-254000">
              <a:spcBef>
                <a:spcPts val="200"/>
              </a:spcBef>
              <a:buSzPct val="100000"/>
              <a:buChar char="•"/>
              <a:defRPr sz="1400">
                <a:solidFill>
                  <a:srgbClr val="111111"/>
                </a:solidFill>
                <a:latin typeface="Arial"/>
                <a:ea typeface="Arial"/>
                <a:cs typeface="Arial"/>
                <a:sym typeface="Arial"/>
              </a:defRPr>
            </a:pPr>
            <a:r>
              <a:t>Reduced safety</a:t>
            </a:r>
          </a:p>
          <a:p>
            <a:pPr marL="342900" indent="-342900">
              <a:spcBef>
                <a:spcPts val="200"/>
              </a:spcBef>
              <a:buSzPct val="100000"/>
              <a:buChar char="•"/>
              <a:defRPr sz="1400">
                <a:solidFill>
                  <a:srgbClr val="111111"/>
                </a:solidFill>
                <a:latin typeface="Arial"/>
                <a:ea typeface="Arial"/>
                <a:cs typeface="Arial"/>
                <a:sym typeface="Arial"/>
              </a:defRPr>
            </a:pPr>
            <a:r>
              <a:t>Passive systems alone are not adaptive</a:t>
            </a:r>
          </a:p>
          <a:p>
            <a:pPr marL="342900" indent="-342900">
              <a:spcBef>
                <a:spcPts val="200"/>
              </a:spcBef>
              <a:buSzPct val="100000"/>
              <a:buChar char="•"/>
              <a:defRPr sz="1400">
                <a:solidFill>
                  <a:srgbClr val="111111"/>
                </a:solidFill>
                <a:latin typeface="Arial"/>
                <a:ea typeface="Arial"/>
                <a:cs typeface="Arial"/>
                <a:sym typeface="Arial"/>
              </a:defRPr>
            </a:pPr>
            <a:r>
              <a:t>Active systems alone depend on power</a:t>
            </a:r>
          </a:p>
          <a:p>
            <a:pPr>
              <a:spcBef>
                <a:spcPts val="200"/>
              </a:spcBef>
              <a:defRPr sz="1400">
                <a:solidFill>
                  <a:srgbClr val="111111"/>
                </a:solidFill>
                <a:latin typeface="Arial"/>
                <a:ea typeface="Arial"/>
                <a:cs typeface="Arial"/>
                <a:sym typeface="Arial"/>
              </a:defRPr>
            </a:pPr>
            <a:r>
              <a:t>Therefore, need for a </a:t>
            </a:r>
            <a:r>
              <a:rPr b="1"/>
              <a:t>hybrid vibration control system</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C8E6F5"/>
        </a:solidFill>
      </p:bgPr>
    </p:bg>
    <p:spTree>
      <p:nvGrpSpPr>
        <p:cNvPr id="1" name=""/>
        <p:cNvGrpSpPr/>
        <p:nvPr/>
      </p:nvGrpSpPr>
      <p:grpSpPr>
        <a:xfrm>
          <a:off x="0" y="0"/>
          <a:ext cx="0" cy="0"/>
          <a:chOff x="0" y="0"/>
          <a:chExt cx="0" cy="0"/>
        </a:xfrm>
      </p:grpSpPr>
      <p:sp>
        <p:nvSpPr>
          <p:cNvPr id="32" name="Shape 0"/>
          <p:cNvSpPr/>
          <p:nvPr/>
        </p:nvSpPr>
        <p:spPr>
          <a:xfrm>
            <a:off x="-2286000" y="3017520"/>
            <a:ext cx="13716000" cy="4572001"/>
          </a:xfrm>
          <a:prstGeom prst="ellipse">
            <a:avLst/>
          </a:prstGeom>
          <a:solidFill>
            <a:srgbClr val="FFFFFF"/>
          </a:solidFill>
          <a:ln w="12700">
            <a:solidFill>
              <a:srgbClr val="FFFFFF"/>
            </a:solidFill>
          </a:ln>
        </p:spPr>
        <p:txBody>
          <a:bodyPr lIns="45719" rIns="45719"/>
          <a:lstStyle/>
          <a:p>
            <a:pPr/>
          </a:p>
        </p:txBody>
      </p:sp>
      <p:sp>
        <p:nvSpPr>
          <p:cNvPr id="33" name="Text 1"/>
          <p:cNvSpPr txBox="1"/>
          <p:nvPr/>
        </p:nvSpPr>
        <p:spPr>
          <a:xfrm>
            <a:off x="365759" y="230051"/>
            <a:ext cx="8412482" cy="55488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000">
                <a:solidFill>
                  <a:srgbClr val="111111"/>
                </a:solidFill>
                <a:latin typeface="Arial"/>
                <a:ea typeface="Arial"/>
                <a:cs typeface="Arial"/>
                <a:sym typeface="Arial"/>
              </a:defRPr>
            </a:lvl1pPr>
          </a:lstStyle>
          <a:p>
            <a:pPr/>
            <a:r>
              <a:t>Project Objectives</a:t>
            </a:r>
          </a:p>
        </p:txBody>
      </p:sp>
      <p:sp>
        <p:nvSpPr>
          <p:cNvPr id="34" name="Text 2"/>
          <p:cNvSpPr txBox="1"/>
          <p:nvPr/>
        </p:nvSpPr>
        <p:spPr>
          <a:xfrm>
            <a:off x="365759" y="1128936"/>
            <a:ext cx="8321042"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1. Structural Modeling: </a:t>
            </a:r>
            <a:r>
              <a:rPr b="0"/>
              <a:t>Design and fabricate a 3-storey acrylic and WPC building scale model (~3 ft, 1.2 kg) representative of low-rise structures.</a:t>
            </a:r>
          </a:p>
        </p:txBody>
      </p:sp>
      <p:sp>
        <p:nvSpPr>
          <p:cNvPr id="35" name="Text 3"/>
          <p:cNvSpPr txBox="1"/>
          <p:nvPr/>
        </p:nvSpPr>
        <p:spPr>
          <a:xfrm>
            <a:off x="365759" y="1878744"/>
            <a:ext cx="8321042"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2. Numerical Simulation: </a:t>
            </a:r>
            <a:r>
              <a:rPr b="0"/>
              <a:t>Perform Modal and Harmonic Response analyses in ANSYS 2025 R2 to extract natural frequencies and mode shapes.</a:t>
            </a:r>
          </a:p>
        </p:txBody>
      </p:sp>
      <p:sp>
        <p:nvSpPr>
          <p:cNvPr id="36" name="Text 4"/>
          <p:cNvSpPr txBox="1"/>
          <p:nvPr/>
        </p:nvSpPr>
        <p:spPr>
          <a:xfrm>
            <a:off x="365759" y="2628552"/>
            <a:ext cx="8321042"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3. Passive Damping: </a:t>
            </a:r>
            <a:r>
              <a:rPr b="0"/>
              <a:t>Implement spring-based passive isolation at the base to reduce incoming ground excitation energy.</a:t>
            </a:r>
          </a:p>
        </p:txBody>
      </p:sp>
      <p:sp>
        <p:nvSpPr>
          <p:cNvPr id="37" name="Text 5"/>
          <p:cNvSpPr txBox="1"/>
          <p:nvPr/>
        </p:nvSpPr>
        <p:spPr>
          <a:xfrm>
            <a:off x="365759" y="3378360"/>
            <a:ext cx="8321042"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4. Active Control: </a:t>
            </a:r>
            <a:r>
              <a:rPr b="0"/>
              <a:t>Design a PID-based active damping controller using a high-torque servo motor driven by Arduino Mega with MPU6050 feedback.</a:t>
            </a:r>
          </a:p>
        </p:txBody>
      </p:sp>
      <p:sp>
        <p:nvSpPr>
          <p:cNvPr id="38" name="Text 6"/>
          <p:cNvSpPr txBox="1"/>
          <p:nvPr/>
        </p:nvSpPr>
        <p:spPr>
          <a:xfrm>
            <a:off x="365759" y="4128168"/>
            <a:ext cx="8321042"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5. System Validation: </a:t>
            </a:r>
            <a:r>
              <a:rPr b="0"/>
              <a:t>Experimentally verify hybrid system performance under simulated seismic excitation and compare with baseline.</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C8E6F5"/>
        </a:solidFill>
      </p:bgPr>
    </p:bg>
    <p:spTree>
      <p:nvGrpSpPr>
        <p:cNvPr id="1" name=""/>
        <p:cNvGrpSpPr/>
        <p:nvPr/>
      </p:nvGrpSpPr>
      <p:grpSpPr>
        <a:xfrm>
          <a:off x="0" y="0"/>
          <a:ext cx="0" cy="0"/>
          <a:chOff x="0" y="0"/>
          <a:chExt cx="0" cy="0"/>
        </a:xfrm>
      </p:grpSpPr>
      <p:sp>
        <p:nvSpPr>
          <p:cNvPr id="40" name="Shape 0"/>
          <p:cNvSpPr/>
          <p:nvPr/>
        </p:nvSpPr>
        <p:spPr>
          <a:xfrm>
            <a:off x="-2286000" y="3017520"/>
            <a:ext cx="13716000" cy="4572001"/>
          </a:xfrm>
          <a:prstGeom prst="ellipse">
            <a:avLst/>
          </a:prstGeom>
          <a:solidFill>
            <a:srgbClr val="FFFFFF"/>
          </a:solidFill>
          <a:ln w="12700">
            <a:solidFill>
              <a:srgbClr val="FFFFFF"/>
            </a:solidFill>
          </a:ln>
        </p:spPr>
        <p:txBody>
          <a:bodyPr lIns="45719" rIns="45719"/>
          <a:lstStyle/>
          <a:p>
            <a:pPr/>
          </a:p>
        </p:txBody>
      </p:sp>
      <p:sp>
        <p:nvSpPr>
          <p:cNvPr id="41" name="Text 1"/>
          <p:cNvSpPr txBox="1"/>
          <p:nvPr/>
        </p:nvSpPr>
        <p:spPr>
          <a:xfrm>
            <a:off x="365759" y="230051"/>
            <a:ext cx="8412482" cy="55488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000">
                <a:solidFill>
                  <a:srgbClr val="111111"/>
                </a:solidFill>
                <a:latin typeface="Arial"/>
                <a:ea typeface="Arial"/>
                <a:cs typeface="Arial"/>
                <a:sym typeface="Arial"/>
              </a:defRPr>
            </a:lvl1pPr>
          </a:lstStyle>
          <a:p>
            <a:pPr/>
            <a:r>
              <a:t>Working Principle</a:t>
            </a:r>
          </a:p>
        </p:txBody>
      </p:sp>
      <p:sp>
        <p:nvSpPr>
          <p:cNvPr id="42" name="Text 2"/>
          <p:cNvSpPr txBox="1"/>
          <p:nvPr/>
        </p:nvSpPr>
        <p:spPr>
          <a:xfrm>
            <a:off x="365759" y="964528"/>
            <a:ext cx="8412482" cy="28379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000">
                <a:solidFill>
                  <a:srgbClr val="111111"/>
                </a:solidFill>
                <a:latin typeface="Arial"/>
                <a:ea typeface="Arial"/>
                <a:cs typeface="Arial"/>
                <a:sym typeface="Arial"/>
              </a:defRPr>
            </a:lvl1pPr>
          </a:lstStyle>
          <a:p>
            <a:pPr/>
            <a:r>
              <a:t>Active Damping and Passive Damping</a:t>
            </a:r>
          </a:p>
        </p:txBody>
      </p:sp>
      <p:sp>
        <p:nvSpPr>
          <p:cNvPr id="43" name="Text 3"/>
          <p:cNvSpPr txBox="1"/>
          <p:nvPr/>
        </p:nvSpPr>
        <p:spPr>
          <a:xfrm>
            <a:off x="348962" y="1353875"/>
            <a:ext cx="4824274" cy="3423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Passive damping</a:t>
            </a:r>
            <a:r>
              <a:rPr b="0"/>
              <a:t> in our system is achieved using a spring mechanism. This works on the principle of a tuned damper.</a:t>
            </a:r>
            <a:endParaRPr b="0"/>
          </a:p>
          <a:p>
            <a:pPr>
              <a:defRPr b="1" sz="1300">
                <a:solidFill>
                  <a:srgbClr val="111111"/>
                </a:solidFill>
                <a:latin typeface="Arial"/>
                <a:ea typeface="Arial"/>
                <a:cs typeface="Arial"/>
                <a:sym typeface="Arial"/>
              </a:defRPr>
            </a:pPr>
            <a:endParaRPr b="0"/>
          </a:p>
          <a:p>
            <a:pPr>
              <a:defRPr b="1" sz="1300">
                <a:solidFill>
                  <a:srgbClr val="111111"/>
                </a:solidFill>
                <a:latin typeface="Arial"/>
                <a:ea typeface="Arial"/>
                <a:cs typeface="Arial"/>
                <a:sym typeface="Arial"/>
              </a:defRPr>
            </a:pPr>
            <a:r>
              <a:rPr b="0"/>
              <a:t>When the structure vibrates, the attached spring begins to shear. This oscillation absorbs a portion of the vibrational energy from the structure. As a result, the vibration amplitude decreases over time. The main advantage of this system is that it does not require any external power.</a:t>
            </a:r>
            <a:endParaRPr b="0"/>
          </a:p>
          <a:p>
            <a:pPr>
              <a:defRPr b="1" sz="1300">
                <a:solidFill>
                  <a:srgbClr val="111111"/>
                </a:solidFill>
                <a:latin typeface="Arial"/>
                <a:ea typeface="Arial"/>
                <a:cs typeface="Arial"/>
                <a:sym typeface="Arial"/>
              </a:defRPr>
            </a:pPr>
            <a:endParaRPr b="0"/>
          </a:p>
          <a:p>
            <a:pPr>
              <a:defRPr b="1" sz="1300">
                <a:solidFill>
                  <a:srgbClr val="111111"/>
                </a:solidFill>
                <a:latin typeface="Arial"/>
                <a:ea typeface="Arial"/>
                <a:cs typeface="Arial"/>
                <a:sym typeface="Arial"/>
              </a:defRPr>
            </a:pPr>
            <a:r>
              <a:t>Active damping</a:t>
            </a:r>
            <a:r>
              <a:rPr b="0"/>
              <a:t> in our system is implemented using a servo motor. The servo motor is controlled by an Arduino, enabling precise, controlled movement. When vibrations occur, the motor generates motion in the opposite direction.</a:t>
            </a:r>
            <a:endParaRPr b="0"/>
          </a:p>
          <a:p>
            <a:pPr>
              <a:defRPr b="1" sz="1300">
                <a:solidFill>
                  <a:srgbClr val="111111"/>
                </a:solidFill>
                <a:latin typeface="Arial"/>
                <a:ea typeface="Arial"/>
                <a:cs typeface="Arial"/>
                <a:sym typeface="Arial"/>
              </a:defRPr>
            </a:pPr>
            <a:endParaRPr b="0"/>
          </a:p>
          <a:p>
            <a:pPr>
              <a:defRPr b="1" sz="1300">
                <a:solidFill>
                  <a:srgbClr val="111111"/>
                </a:solidFill>
                <a:latin typeface="Arial"/>
                <a:ea typeface="Arial"/>
                <a:cs typeface="Arial"/>
                <a:sym typeface="Arial"/>
              </a:defRPr>
            </a:pPr>
            <a:r>
              <a:rPr b="0"/>
              <a:t>This opposing motion helps counteract vibrations and stabilise the structure more quickly. Unlike passive damping, active damping can adapt to changing conditions. However, it requires a continuous power supply and control mechanisms.</a:t>
            </a:r>
          </a:p>
        </p:txBody>
      </p:sp>
      <p:pic>
        <p:nvPicPr>
          <p:cNvPr id="44" name="Image" descr="Image"/>
          <p:cNvPicPr>
            <a:picLocks noChangeAspect="1"/>
          </p:cNvPicPr>
          <p:nvPr/>
        </p:nvPicPr>
        <p:blipFill>
          <a:blip r:embed="rId2">
            <a:extLst/>
          </a:blip>
          <a:stretch>
            <a:fillRect/>
          </a:stretch>
        </p:blipFill>
        <p:spPr>
          <a:xfrm>
            <a:off x="5233577" y="851591"/>
            <a:ext cx="3596930" cy="3614100"/>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C8E6F5"/>
        </a:solidFill>
      </p:bgPr>
    </p:bg>
    <p:spTree>
      <p:nvGrpSpPr>
        <p:cNvPr id="1" name=""/>
        <p:cNvGrpSpPr/>
        <p:nvPr/>
      </p:nvGrpSpPr>
      <p:grpSpPr>
        <a:xfrm>
          <a:off x="0" y="0"/>
          <a:ext cx="0" cy="0"/>
          <a:chOff x="0" y="0"/>
          <a:chExt cx="0" cy="0"/>
        </a:xfrm>
      </p:grpSpPr>
      <p:sp>
        <p:nvSpPr>
          <p:cNvPr id="46" name="Shape 0"/>
          <p:cNvSpPr/>
          <p:nvPr/>
        </p:nvSpPr>
        <p:spPr>
          <a:xfrm>
            <a:off x="-2286000" y="3017520"/>
            <a:ext cx="13716000" cy="4572001"/>
          </a:xfrm>
          <a:prstGeom prst="ellipse">
            <a:avLst/>
          </a:prstGeom>
          <a:solidFill>
            <a:srgbClr val="FFFFFF"/>
          </a:solidFill>
          <a:ln w="12700">
            <a:solidFill>
              <a:srgbClr val="FFFFFF"/>
            </a:solidFill>
          </a:ln>
        </p:spPr>
        <p:txBody>
          <a:bodyPr lIns="45719" rIns="45719"/>
          <a:lstStyle/>
          <a:p>
            <a:pPr/>
          </a:p>
        </p:txBody>
      </p:sp>
      <p:sp>
        <p:nvSpPr>
          <p:cNvPr id="47" name="Text 1"/>
          <p:cNvSpPr txBox="1"/>
          <p:nvPr/>
        </p:nvSpPr>
        <p:spPr>
          <a:xfrm>
            <a:off x="365759" y="230051"/>
            <a:ext cx="8412482" cy="55488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000">
                <a:solidFill>
                  <a:srgbClr val="111111"/>
                </a:solidFill>
                <a:latin typeface="Arial"/>
                <a:ea typeface="Arial"/>
                <a:cs typeface="Arial"/>
                <a:sym typeface="Arial"/>
              </a:defRPr>
            </a:lvl1pPr>
          </a:lstStyle>
          <a:p>
            <a:pPr/>
            <a:r>
              <a:t>System Architecture</a:t>
            </a:r>
          </a:p>
        </p:txBody>
      </p:sp>
      <p:sp>
        <p:nvSpPr>
          <p:cNvPr id="48" name="Text 2"/>
          <p:cNvSpPr txBox="1"/>
          <p:nvPr/>
        </p:nvSpPr>
        <p:spPr>
          <a:xfrm>
            <a:off x="365759" y="958525"/>
            <a:ext cx="8412482"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111111"/>
                </a:solidFill>
                <a:latin typeface="Arial"/>
                <a:ea typeface="Arial"/>
                <a:cs typeface="Arial"/>
                <a:sym typeface="Arial"/>
              </a:defRPr>
            </a:lvl1pPr>
          </a:lstStyle>
          <a:p>
            <a:pPr/>
            <a:r>
              <a:t>Hybrid Vibration Control — Signal Flow</a:t>
            </a:r>
          </a:p>
        </p:txBody>
      </p:sp>
      <p:sp>
        <p:nvSpPr>
          <p:cNvPr id="49" name="Shape 3"/>
          <p:cNvSpPr/>
          <p:nvPr/>
        </p:nvSpPr>
        <p:spPr>
          <a:xfrm>
            <a:off x="274319" y="1481327"/>
            <a:ext cx="1572770" cy="804673"/>
          </a:xfrm>
          <a:prstGeom prst="rect">
            <a:avLst/>
          </a:prstGeom>
          <a:solidFill>
            <a:srgbClr val="DAEEF8"/>
          </a:solidFill>
          <a:ln w="12700">
            <a:solidFill>
              <a:srgbClr val="8ABBD0"/>
            </a:solidFill>
          </a:ln>
        </p:spPr>
        <p:txBody>
          <a:bodyPr lIns="45719" rIns="45719"/>
          <a:lstStyle/>
          <a:p>
            <a:pPr/>
          </a:p>
        </p:txBody>
      </p:sp>
      <p:sp>
        <p:nvSpPr>
          <p:cNvPr id="50" name="Text 4"/>
          <p:cNvSpPr txBox="1"/>
          <p:nvPr/>
        </p:nvSpPr>
        <p:spPr>
          <a:xfrm>
            <a:off x="274319" y="1695241"/>
            <a:ext cx="1572770" cy="37684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ctr">
              <a:defRPr sz="1000">
                <a:solidFill>
                  <a:srgbClr val="111111"/>
                </a:solidFill>
                <a:latin typeface="Arial"/>
                <a:ea typeface="Arial"/>
                <a:cs typeface="Arial"/>
                <a:sym typeface="Arial"/>
              </a:defRPr>
            </a:pPr>
            <a:r>
              <a:t>Seismic</a:t>
            </a:r>
          </a:p>
          <a:p>
            <a:pPr algn="ctr">
              <a:defRPr sz="1000">
                <a:solidFill>
                  <a:srgbClr val="111111"/>
                </a:solidFill>
                <a:latin typeface="Arial"/>
                <a:ea typeface="Arial"/>
                <a:cs typeface="Arial"/>
                <a:sym typeface="Arial"/>
              </a:defRPr>
            </a:pPr>
            <a:r>
              <a:t>Excitation</a:t>
            </a:r>
          </a:p>
        </p:txBody>
      </p:sp>
      <p:sp>
        <p:nvSpPr>
          <p:cNvPr id="51" name="Shape 5"/>
          <p:cNvSpPr/>
          <p:nvPr/>
        </p:nvSpPr>
        <p:spPr>
          <a:xfrm>
            <a:off x="1847088" y="1883664"/>
            <a:ext cx="146305" cy="1"/>
          </a:xfrm>
          <a:prstGeom prst="line">
            <a:avLst/>
          </a:prstGeom>
          <a:ln w="12700">
            <a:solidFill>
              <a:srgbClr val="555555"/>
            </a:solidFill>
          </a:ln>
        </p:spPr>
        <p:txBody>
          <a:bodyPr lIns="45719" rIns="45719"/>
          <a:lstStyle/>
          <a:p>
            <a:pPr/>
          </a:p>
        </p:txBody>
      </p:sp>
      <p:sp>
        <p:nvSpPr>
          <p:cNvPr id="52" name="Shape 6"/>
          <p:cNvSpPr/>
          <p:nvPr/>
        </p:nvSpPr>
        <p:spPr>
          <a:xfrm>
            <a:off x="1993392" y="1481327"/>
            <a:ext cx="1572769" cy="804673"/>
          </a:xfrm>
          <a:prstGeom prst="rect">
            <a:avLst/>
          </a:prstGeom>
          <a:solidFill>
            <a:srgbClr val="DAEEF8"/>
          </a:solidFill>
          <a:ln w="12700">
            <a:solidFill>
              <a:srgbClr val="8ABBD0"/>
            </a:solidFill>
          </a:ln>
        </p:spPr>
        <p:txBody>
          <a:bodyPr lIns="45719" rIns="45719"/>
          <a:lstStyle/>
          <a:p>
            <a:pPr/>
          </a:p>
        </p:txBody>
      </p:sp>
      <p:sp>
        <p:nvSpPr>
          <p:cNvPr id="53" name="Text 7"/>
          <p:cNvSpPr txBox="1"/>
          <p:nvPr/>
        </p:nvSpPr>
        <p:spPr>
          <a:xfrm>
            <a:off x="1993392" y="1695241"/>
            <a:ext cx="1572769" cy="37684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ctr">
              <a:defRPr sz="1000">
                <a:solidFill>
                  <a:srgbClr val="111111"/>
                </a:solidFill>
                <a:latin typeface="Arial"/>
                <a:ea typeface="Arial"/>
                <a:cs typeface="Arial"/>
                <a:sym typeface="Arial"/>
              </a:defRPr>
            </a:pPr>
            <a:r>
              <a:t>Passive Damping</a:t>
            </a:r>
          </a:p>
          <a:p>
            <a:pPr algn="ctr">
              <a:defRPr sz="1000">
                <a:solidFill>
                  <a:srgbClr val="111111"/>
                </a:solidFill>
                <a:latin typeface="Arial"/>
                <a:ea typeface="Arial"/>
                <a:cs typeface="Arial"/>
                <a:sym typeface="Arial"/>
              </a:defRPr>
            </a:pPr>
            <a:r>
              <a:t>(Spring Isolators)</a:t>
            </a:r>
          </a:p>
        </p:txBody>
      </p:sp>
      <p:sp>
        <p:nvSpPr>
          <p:cNvPr id="54" name="Shape 8"/>
          <p:cNvSpPr/>
          <p:nvPr/>
        </p:nvSpPr>
        <p:spPr>
          <a:xfrm>
            <a:off x="3566159" y="1883664"/>
            <a:ext cx="146305" cy="1"/>
          </a:xfrm>
          <a:prstGeom prst="line">
            <a:avLst/>
          </a:prstGeom>
          <a:ln w="12700">
            <a:solidFill>
              <a:srgbClr val="555555"/>
            </a:solidFill>
          </a:ln>
        </p:spPr>
        <p:txBody>
          <a:bodyPr lIns="45719" rIns="45719"/>
          <a:lstStyle/>
          <a:p>
            <a:pPr/>
          </a:p>
        </p:txBody>
      </p:sp>
      <p:sp>
        <p:nvSpPr>
          <p:cNvPr id="55" name="Shape 9"/>
          <p:cNvSpPr/>
          <p:nvPr/>
        </p:nvSpPr>
        <p:spPr>
          <a:xfrm>
            <a:off x="3712464" y="1481327"/>
            <a:ext cx="1572769" cy="804673"/>
          </a:xfrm>
          <a:prstGeom prst="rect">
            <a:avLst/>
          </a:prstGeom>
          <a:solidFill>
            <a:srgbClr val="DAEEF8"/>
          </a:solidFill>
          <a:ln w="12700">
            <a:solidFill>
              <a:srgbClr val="8ABBD0"/>
            </a:solidFill>
          </a:ln>
        </p:spPr>
        <p:txBody>
          <a:bodyPr lIns="45719" rIns="45719"/>
          <a:lstStyle/>
          <a:p>
            <a:pPr/>
          </a:p>
        </p:txBody>
      </p:sp>
      <p:sp>
        <p:nvSpPr>
          <p:cNvPr id="56" name="Text 10"/>
          <p:cNvSpPr txBox="1"/>
          <p:nvPr/>
        </p:nvSpPr>
        <p:spPr>
          <a:xfrm>
            <a:off x="3712464" y="1695241"/>
            <a:ext cx="1572769" cy="37684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ctr">
              <a:defRPr sz="1000">
                <a:solidFill>
                  <a:srgbClr val="111111"/>
                </a:solidFill>
                <a:latin typeface="Arial"/>
                <a:ea typeface="Arial"/>
                <a:cs typeface="Arial"/>
                <a:sym typeface="Arial"/>
              </a:defRPr>
            </a:pPr>
            <a:r>
              <a:t>3-Storey</a:t>
            </a:r>
          </a:p>
          <a:p>
            <a:pPr algn="ctr">
              <a:defRPr sz="1000">
                <a:solidFill>
                  <a:srgbClr val="111111"/>
                </a:solidFill>
                <a:latin typeface="Arial"/>
                <a:ea typeface="Arial"/>
                <a:cs typeface="Arial"/>
                <a:sym typeface="Arial"/>
              </a:defRPr>
            </a:pPr>
            <a:r>
              <a:t>Building Model</a:t>
            </a:r>
          </a:p>
        </p:txBody>
      </p:sp>
      <p:sp>
        <p:nvSpPr>
          <p:cNvPr id="57" name="Shape 11"/>
          <p:cNvSpPr/>
          <p:nvPr/>
        </p:nvSpPr>
        <p:spPr>
          <a:xfrm>
            <a:off x="5285232" y="1883664"/>
            <a:ext cx="146305" cy="1"/>
          </a:xfrm>
          <a:prstGeom prst="line">
            <a:avLst/>
          </a:prstGeom>
          <a:ln w="12700">
            <a:solidFill>
              <a:srgbClr val="555555"/>
            </a:solidFill>
          </a:ln>
        </p:spPr>
        <p:txBody>
          <a:bodyPr lIns="45719" rIns="45719"/>
          <a:lstStyle/>
          <a:p>
            <a:pPr/>
          </a:p>
        </p:txBody>
      </p:sp>
      <p:sp>
        <p:nvSpPr>
          <p:cNvPr id="58" name="Shape 12"/>
          <p:cNvSpPr/>
          <p:nvPr/>
        </p:nvSpPr>
        <p:spPr>
          <a:xfrm>
            <a:off x="5431535" y="1481327"/>
            <a:ext cx="1572769" cy="804673"/>
          </a:xfrm>
          <a:prstGeom prst="rect">
            <a:avLst/>
          </a:prstGeom>
          <a:solidFill>
            <a:srgbClr val="DAEEF8"/>
          </a:solidFill>
          <a:ln w="12700">
            <a:solidFill>
              <a:srgbClr val="8ABBD0"/>
            </a:solidFill>
          </a:ln>
        </p:spPr>
        <p:txBody>
          <a:bodyPr lIns="45719" rIns="45719"/>
          <a:lstStyle/>
          <a:p>
            <a:pPr/>
          </a:p>
        </p:txBody>
      </p:sp>
      <p:sp>
        <p:nvSpPr>
          <p:cNvPr id="59" name="Text 13"/>
          <p:cNvSpPr txBox="1"/>
          <p:nvPr/>
        </p:nvSpPr>
        <p:spPr>
          <a:xfrm>
            <a:off x="5431535" y="1695241"/>
            <a:ext cx="1572769" cy="37684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ctr">
              <a:defRPr sz="1000">
                <a:solidFill>
                  <a:srgbClr val="111111"/>
                </a:solidFill>
                <a:latin typeface="Arial"/>
                <a:ea typeface="Arial"/>
                <a:cs typeface="Arial"/>
                <a:sym typeface="Arial"/>
              </a:defRPr>
            </a:pPr>
            <a:r>
              <a:t>MPU6050</a:t>
            </a:r>
          </a:p>
          <a:p>
            <a:pPr algn="ctr">
              <a:defRPr sz="1000">
                <a:solidFill>
                  <a:srgbClr val="111111"/>
                </a:solidFill>
                <a:latin typeface="Arial"/>
                <a:ea typeface="Arial"/>
                <a:cs typeface="Arial"/>
                <a:sym typeface="Arial"/>
              </a:defRPr>
            </a:pPr>
            <a:r>
              <a:t>Accelerometer</a:t>
            </a:r>
          </a:p>
        </p:txBody>
      </p:sp>
      <p:sp>
        <p:nvSpPr>
          <p:cNvPr id="60" name="Shape 14"/>
          <p:cNvSpPr/>
          <p:nvPr/>
        </p:nvSpPr>
        <p:spPr>
          <a:xfrm>
            <a:off x="7004304" y="1883664"/>
            <a:ext cx="146305" cy="1"/>
          </a:xfrm>
          <a:prstGeom prst="line">
            <a:avLst/>
          </a:prstGeom>
          <a:ln w="12700">
            <a:solidFill>
              <a:srgbClr val="555555"/>
            </a:solidFill>
          </a:ln>
        </p:spPr>
        <p:txBody>
          <a:bodyPr lIns="45719" rIns="45719"/>
          <a:lstStyle/>
          <a:p>
            <a:pPr/>
          </a:p>
        </p:txBody>
      </p:sp>
      <p:sp>
        <p:nvSpPr>
          <p:cNvPr id="61" name="Shape 15"/>
          <p:cNvSpPr/>
          <p:nvPr/>
        </p:nvSpPr>
        <p:spPr>
          <a:xfrm>
            <a:off x="7150607" y="1481327"/>
            <a:ext cx="1572769" cy="804673"/>
          </a:xfrm>
          <a:prstGeom prst="rect">
            <a:avLst/>
          </a:prstGeom>
          <a:solidFill>
            <a:srgbClr val="DAEEF8"/>
          </a:solidFill>
          <a:ln w="12700">
            <a:solidFill>
              <a:srgbClr val="8ABBD0"/>
            </a:solidFill>
          </a:ln>
        </p:spPr>
        <p:txBody>
          <a:bodyPr lIns="45719" rIns="45719"/>
          <a:lstStyle/>
          <a:p>
            <a:pPr/>
          </a:p>
        </p:txBody>
      </p:sp>
      <p:sp>
        <p:nvSpPr>
          <p:cNvPr id="62" name="Text 16"/>
          <p:cNvSpPr txBox="1"/>
          <p:nvPr/>
        </p:nvSpPr>
        <p:spPr>
          <a:xfrm>
            <a:off x="7150607" y="1695241"/>
            <a:ext cx="1572769" cy="37684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ctr">
              <a:defRPr sz="1000">
                <a:solidFill>
                  <a:srgbClr val="111111"/>
                </a:solidFill>
                <a:latin typeface="Arial"/>
                <a:ea typeface="Arial"/>
                <a:cs typeface="Arial"/>
                <a:sym typeface="Arial"/>
              </a:defRPr>
            </a:pPr>
            <a:r>
              <a:t>Arduino Mega</a:t>
            </a:r>
          </a:p>
          <a:p>
            <a:pPr algn="ctr">
              <a:defRPr sz="1000">
                <a:solidFill>
                  <a:srgbClr val="111111"/>
                </a:solidFill>
                <a:latin typeface="Arial"/>
                <a:ea typeface="Arial"/>
                <a:cs typeface="Arial"/>
                <a:sym typeface="Arial"/>
              </a:defRPr>
            </a:pPr>
            <a:r>
              <a:t>(PID Controller)</a:t>
            </a:r>
          </a:p>
        </p:txBody>
      </p:sp>
      <p:sp>
        <p:nvSpPr>
          <p:cNvPr id="63" name="Text 17"/>
          <p:cNvSpPr txBox="1"/>
          <p:nvPr/>
        </p:nvSpPr>
        <p:spPr>
          <a:xfrm>
            <a:off x="5669279" y="2440685"/>
            <a:ext cx="3108961" cy="14783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555555"/>
                </a:solidFill>
                <a:latin typeface="Arial"/>
                <a:ea typeface="Arial"/>
                <a:cs typeface="Arial"/>
                <a:sym typeface="Arial"/>
              </a:defRPr>
            </a:lvl1pPr>
          </a:lstStyle>
          <a:p>
            <a:pPr/>
            <a:r>
              <a:t>← Feedback loop</a:t>
            </a:r>
          </a:p>
        </p:txBody>
      </p:sp>
      <p:sp>
        <p:nvSpPr>
          <p:cNvPr id="64" name="Shape 18"/>
          <p:cNvSpPr/>
          <p:nvPr/>
        </p:nvSpPr>
        <p:spPr>
          <a:xfrm>
            <a:off x="5650991" y="2697479"/>
            <a:ext cx="3145537" cy="621793"/>
          </a:xfrm>
          <a:prstGeom prst="rect">
            <a:avLst/>
          </a:prstGeom>
          <a:solidFill>
            <a:srgbClr val="DAEEF8"/>
          </a:solidFill>
          <a:ln w="12700">
            <a:solidFill>
              <a:srgbClr val="8ABBD0"/>
            </a:solidFill>
          </a:ln>
        </p:spPr>
        <p:txBody>
          <a:bodyPr lIns="45719" rIns="45719"/>
          <a:lstStyle/>
          <a:p>
            <a:pPr/>
          </a:p>
        </p:txBody>
      </p:sp>
      <p:sp>
        <p:nvSpPr>
          <p:cNvPr id="65" name="Text 19"/>
          <p:cNvSpPr txBox="1"/>
          <p:nvPr/>
        </p:nvSpPr>
        <p:spPr>
          <a:xfrm>
            <a:off x="5650991" y="2819953"/>
            <a:ext cx="3145537" cy="376846"/>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ctr">
              <a:defRPr sz="1000">
                <a:solidFill>
                  <a:srgbClr val="111111"/>
                </a:solidFill>
                <a:latin typeface="Arial"/>
                <a:ea typeface="Arial"/>
                <a:cs typeface="Arial"/>
                <a:sym typeface="Arial"/>
              </a:defRPr>
            </a:pPr>
            <a:r>
              <a:t>Active Damping — High-Torque Servo</a:t>
            </a:r>
          </a:p>
          <a:p>
            <a:pPr algn="ctr">
              <a:defRPr sz="1000">
                <a:solidFill>
                  <a:srgbClr val="111111"/>
                </a:solidFill>
                <a:latin typeface="Arial"/>
                <a:ea typeface="Arial"/>
                <a:cs typeface="Arial"/>
                <a:sym typeface="Arial"/>
              </a:defRPr>
            </a:pPr>
            <a:r>
              <a:t>generates counter-torque to suppress vibration</a:t>
            </a:r>
          </a:p>
        </p:txBody>
      </p:sp>
      <p:sp>
        <p:nvSpPr>
          <p:cNvPr id="66" name="Text 20"/>
          <p:cNvSpPr txBox="1"/>
          <p:nvPr/>
        </p:nvSpPr>
        <p:spPr>
          <a:xfrm>
            <a:off x="365759" y="4145232"/>
            <a:ext cx="8321042" cy="3506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11111"/>
                </a:solidFill>
                <a:latin typeface="Arial"/>
                <a:ea typeface="Arial"/>
                <a:cs typeface="Arial"/>
                <a:sym typeface="Arial"/>
              </a:defRPr>
            </a:pPr>
            <a:r>
              <a:t>Outcomes:  </a:t>
            </a:r>
            <a:r>
              <a:rPr b="0"/>
              <a:t>Passive damping attenuates primary seismic energy  ·  Active PID controller suppresses residual vibrations  ·  Real-time feedback via MPU6050</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C8E6F5"/>
        </a:solidFill>
      </p:bgPr>
    </p:bg>
    <p:spTree>
      <p:nvGrpSpPr>
        <p:cNvPr id="1" name=""/>
        <p:cNvGrpSpPr/>
        <p:nvPr/>
      </p:nvGrpSpPr>
      <p:grpSpPr>
        <a:xfrm>
          <a:off x="0" y="0"/>
          <a:ext cx="0" cy="0"/>
          <a:chOff x="0" y="0"/>
          <a:chExt cx="0" cy="0"/>
        </a:xfrm>
      </p:grpSpPr>
      <p:sp>
        <p:nvSpPr>
          <p:cNvPr id="68" name="Shape 0"/>
          <p:cNvSpPr/>
          <p:nvPr/>
        </p:nvSpPr>
        <p:spPr>
          <a:xfrm>
            <a:off x="-2286000" y="3017520"/>
            <a:ext cx="13716000" cy="4572001"/>
          </a:xfrm>
          <a:prstGeom prst="ellipse">
            <a:avLst/>
          </a:prstGeom>
          <a:solidFill>
            <a:srgbClr val="FFFFFF"/>
          </a:solidFill>
          <a:ln w="12700">
            <a:solidFill>
              <a:srgbClr val="FFFFFF"/>
            </a:solidFill>
          </a:ln>
        </p:spPr>
        <p:txBody>
          <a:bodyPr lIns="45719" rIns="45719"/>
          <a:lstStyle/>
          <a:p>
            <a:pPr/>
          </a:p>
        </p:txBody>
      </p:sp>
      <p:sp>
        <p:nvSpPr>
          <p:cNvPr id="69" name="Text 1"/>
          <p:cNvSpPr txBox="1"/>
          <p:nvPr/>
        </p:nvSpPr>
        <p:spPr>
          <a:xfrm>
            <a:off x="365759" y="230051"/>
            <a:ext cx="8412482" cy="55488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4000">
                <a:solidFill>
                  <a:srgbClr val="111111"/>
                </a:solidFill>
                <a:latin typeface="Arial"/>
                <a:ea typeface="Arial"/>
                <a:cs typeface="Arial"/>
                <a:sym typeface="Arial"/>
              </a:defRPr>
            </a:lvl1pPr>
          </a:lstStyle>
          <a:p>
            <a:pPr/>
            <a:r>
              <a:t>Governing Equations</a:t>
            </a:r>
          </a:p>
        </p:txBody>
      </p:sp>
      <p:sp>
        <p:nvSpPr>
          <p:cNvPr id="70" name="Text 2"/>
          <p:cNvSpPr txBox="1"/>
          <p:nvPr/>
        </p:nvSpPr>
        <p:spPr>
          <a:xfrm>
            <a:off x="365759" y="1169183"/>
            <a:ext cx="8229601"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11111"/>
                </a:solidFill>
                <a:latin typeface="Arial"/>
                <a:ea typeface="Arial"/>
                <a:cs typeface="Arial"/>
                <a:sym typeface="Arial"/>
              </a:defRPr>
            </a:lvl1pPr>
          </a:lstStyle>
          <a:p>
            <a:pPr/>
            <a:r>
              <a:t>Equation of Motion (Single Degree of Freedom):</a:t>
            </a:r>
          </a:p>
        </p:txBody>
      </p:sp>
      <p:sp>
        <p:nvSpPr>
          <p:cNvPr id="71" name="Text 3"/>
          <p:cNvSpPr txBox="1"/>
          <p:nvPr/>
        </p:nvSpPr>
        <p:spPr>
          <a:xfrm>
            <a:off x="365759" y="1633125"/>
            <a:ext cx="5486401" cy="34562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2400">
                <a:solidFill>
                  <a:srgbClr val="111111"/>
                </a:solidFill>
                <a:latin typeface="Arial"/>
                <a:ea typeface="Arial"/>
                <a:cs typeface="Arial"/>
                <a:sym typeface="Arial"/>
              </a:defRPr>
            </a:lvl1pPr>
          </a:lstStyle>
          <a:p>
            <a:pPr/>
            <a:r>
              <a:t>mẍ + cẋ + kx = F(t)</a:t>
            </a:r>
          </a:p>
        </p:txBody>
      </p:sp>
      <p:sp>
        <p:nvSpPr>
          <p:cNvPr id="72" name="Text 4"/>
          <p:cNvSpPr txBox="1"/>
          <p:nvPr/>
        </p:nvSpPr>
        <p:spPr>
          <a:xfrm>
            <a:off x="365759" y="2294034"/>
            <a:ext cx="822960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i="1" sz="1300">
                <a:solidFill>
                  <a:srgbClr val="111111"/>
                </a:solidFill>
                <a:latin typeface="Arial"/>
                <a:ea typeface="Arial"/>
                <a:cs typeface="Arial"/>
                <a:sym typeface="Arial"/>
              </a:defRPr>
            </a:pPr>
            <a:r>
              <a:t>m</a:t>
            </a:r>
            <a:r>
              <a:rPr b="0" i="0"/>
              <a:t>  —  Mass of the structure</a:t>
            </a:r>
          </a:p>
        </p:txBody>
      </p:sp>
      <p:sp>
        <p:nvSpPr>
          <p:cNvPr id="73" name="Text 5"/>
          <p:cNvSpPr txBox="1"/>
          <p:nvPr/>
        </p:nvSpPr>
        <p:spPr>
          <a:xfrm>
            <a:off x="365759" y="2714658"/>
            <a:ext cx="822960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i="1" sz="1300">
                <a:solidFill>
                  <a:srgbClr val="111111"/>
                </a:solidFill>
                <a:latin typeface="Arial"/>
                <a:ea typeface="Arial"/>
                <a:cs typeface="Arial"/>
                <a:sym typeface="Arial"/>
              </a:defRPr>
            </a:pPr>
            <a:r>
              <a:t>c</a:t>
            </a:r>
            <a:r>
              <a:rPr b="0" i="0"/>
              <a:t>  —  Damping coefficient</a:t>
            </a:r>
          </a:p>
        </p:txBody>
      </p:sp>
      <p:sp>
        <p:nvSpPr>
          <p:cNvPr id="74" name="Text 6"/>
          <p:cNvSpPr txBox="1"/>
          <p:nvPr/>
        </p:nvSpPr>
        <p:spPr>
          <a:xfrm>
            <a:off x="365759" y="3135282"/>
            <a:ext cx="822960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i="1" sz="1300">
                <a:solidFill>
                  <a:srgbClr val="111111"/>
                </a:solidFill>
                <a:latin typeface="Arial"/>
                <a:ea typeface="Arial"/>
                <a:cs typeface="Arial"/>
                <a:sym typeface="Arial"/>
              </a:defRPr>
            </a:pPr>
            <a:r>
              <a:t>k</a:t>
            </a:r>
            <a:r>
              <a:rPr b="0" i="0"/>
              <a:t>  —  Stiffness of the structure</a:t>
            </a:r>
          </a:p>
        </p:txBody>
      </p:sp>
      <p:sp>
        <p:nvSpPr>
          <p:cNvPr id="75" name="Text 7"/>
          <p:cNvSpPr txBox="1"/>
          <p:nvPr/>
        </p:nvSpPr>
        <p:spPr>
          <a:xfrm>
            <a:off x="365759" y="3555906"/>
            <a:ext cx="822960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i="1" sz="1300">
                <a:solidFill>
                  <a:srgbClr val="111111"/>
                </a:solidFill>
                <a:latin typeface="Arial"/>
                <a:ea typeface="Arial"/>
                <a:cs typeface="Arial"/>
                <a:sym typeface="Arial"/>
              </a:defRPr>
            </a:pPr>
            <a:r>
              <a:t>x, ẋ, ẍ</a:t>
            </a:r>
            <a:r>
              <a:rPr b="0" i="0"/>
              <a:t>  —  Displacement, velocity, and acceleration</a:t>
            </a:r>
          </a:p>
        </p:txBody>
      </p:sp>
      <p:sp>
        <p:nvSpPr>
          <p:cNvPr id="76" name="Text 8"/>
          <p:cNvSpPr txBox="1"/>
          <p:nvPr/>
        </p:nvSpPr>
        <p:spPr>
          <a:xfrm>
            <a:off x="365759" y="3976530"/>
            <a:ext cx="822960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i="1" sz="1300">
                <a:solidFill>
                  <a:srgbClr val="111111"/>
                </a:solidFill>
                <a:latin typeface="Arial"/>
                <a:ea typeface="Arial"/>
                <a:cs typeface="Arial"/>
                <a:sym typeface="Arial"/>
              </a:defRPr>
            </a:pPr>
            <a:r>
              <a:t>F(t)</a:t>
            </a:r>
            <a:r>
              <a:rPr b="0" i="0"/>
              <a:t>  —  External seismic force (time-varying)</a:t>
            </a:r>
          </a:p>
        </p:txBody>
      </p:sp>
      <p:sp>
        <p:nvSpPr>
          <p:cNvPr id="77" name="Text 9"/>
          <p:cNvSpPr txBox="1"/>
          <p:nvPr/>
        </p:nvSpPr>
        <p:spPr>
          <a:xfrm>
            <a:off x="5134800" y="1169183"/>
            <a:ext cx="4023360"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11111"/>
                </a:solidFill>
                <a:latin typeface="Arial"/>
                <a:ea typeface="Arial"/>
                <a:cs typeface="Arial"/>
                <a:sym typeface="Arial"/>
              </a:defRPr>
            </a:lvl1pPr>
          </a:lstStyle>
          <a:p>
            <a:pPr/>
            <a:r>
              <a:t>PID Control Law:</a:t>
            </a:r>
          </a:p>
        </p:txBody>
      </p:sp>
      <p:sp>
        <p:nvSpPr>
          <p:cNvPr id="78" name="Text 10"/>
          <p:cNvSpPr txBox="1"/>
          <p:nvPr/>
        </p:nvSpPr>
        <p:spPr>
          <a:xfrm>
            <a:off x="4754879" y="1701105"/>
            <a:ext cx="4206242"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500">
                <a:solidFill>
                  <a:srgbClr val="111111"/>
                </a:solidFill>
                <a:latin typeface="Arial"/>
                <a:ea typeface="Arial"/>
                <a:cs typeface="Arial"/>
                <a:sym typeface="Arial"/>
              </a:defRPr>
            </a:lvl1pPr>
          </a:lstStyle>
          <a:p>
            <a:pPr/>
            <a:r>
              <a:t>u(t) = Kp·e(t) + Ki·∫e(t)dt + Kd·de/dt</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C8E6F5"/>
        </a:solidFill>
      </p:bgPr>
    </p:bg>
    <p:spTree>
      <p:nvGrpSpPr>
        <p:cNvPr id="1" name=""/>
        <p:cNvGrpSpPr/>
        <p:nvPr/>
      </p:nvGrpSpPr>
      <p:grpSpPr>
        <a:xfrm>
          <a:off x="0" y="0"/>
          <a:ext cx="0" cy="0"/>
          <a:chOff x="0" y="0"/>
          <a:chExt cx="0" cy="0"/>
        </a:xfrm>
      </p:grpSpPr>
      <p:sp>
        <p:nvSpPr>
          <p:cNvPr id="80" name="Shape 0"/>
          <p:cNvSpPr/>
          <p:nvPr/>
        </p:nvSpPr>
        <p:spPr>
          <a:xfrm>
            <a:off x="-2286000" y="3017520"/>
            <a:ext cx="13716000" cy="4572001"/>
          </a:xfrm>
          <a:prstGeom prst="ellipse">
            <a:avLst/>
          </a:prstGeom>
          <a:solidFill>
            <a:srgbClr val="FFFFFF"/>
          </a:solidFill>
          <a:ln w="12700">
            <a:solidFill>
              <a:srgbClr val="FFFFFF"/>
            </a:solidFill>
          </a:ln>
        </p:spPr>
        <p:txBody>
          <a:bodyPr lIns="45719" rIns="45719"/>
          <a:lstStyle/>
          <a:p>
            <a:pPr/>
          </a:p>
        </p:txBody>
      </p:sp>
      <p:sp>
        <p:nvSpPr>
          <p:cNvPr id="81" name="Text 1"/>
          <p:cNvSpPr txBox="1"/>
          <p:nvPr/>
        </p:nvSpPr>
        <p:spPr>
          <a:xfrm>
            <a:off x="365759" y="242336"/>
            <a:ext cx="8412482" cy="5303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111111"/>
                </a:solidFill>
                <a:latin typeface="Arial"/>
                <a:ea typeface="Arial"/>
                <a:cs typeface="Arial"/>
                <a:sym typeface="Arial"/>
              </a:defRPr>
            </a:lvl1pPr>
          </a:lstStyle>
          <a:p>
            <a:pPr/>
            <a:r>
              <a:t>Modal Analysis Natural Frequencies</a:t>
            </a:r>
          </a:p>
        </p:txBody>
      </p:sp>
      <p:sp>
        <p:nvSpPr>
          <p:cNvPr id="82" name="Text 2"/>
          <p:cNvSpPr txBox="1"/>
          <p:nvPr/>
        </p:nvSpPr>
        <p:spPr>
          <a:xfrm>
            <a:off x="391663" y="1071637"/>
            <a:ext cx="8229601"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11111"/>
                </a:solidFill>
                <a:latin typeface="Arial"/>
                <a:ea typeface="Arial"/>
                <a:cs typeface="Arial"/>
                <a:sym typeface="Arial"/>
              </a:defRPr>
            </a:lvl1pPr>
          </a:lstStyle>
          <a:p>
            <a:pPr/>
            <a:r>
              <a:t>ANSYS 2025 R2  3-Storey Acrylic Model</a:t>
            </a:r>
          </a:p>
        </p:txBody>
      </p:sp>
      <p:sp>
        <p:nvSpPr>
          <p:cNvPr id="83" name="Shape 3"/>
          <p:cNvSpPr/>
          <p:nvPr/>
        </p:nvSpPr>
        <p:spPr>
          <a:xfrm>
            <a:off x="365759" y="1325880"/>
            <a:ext cx="8412482" cy="502920"/>
          </a:xfrm>
          <a:prstGeom prst="rect">
            <a:avLst/>
          </a:prstGeom>
          <a:solidFill>
            <a:srgbClr val="DAEEF8"/>
          </a:solidFill>
          <a:ln w="12700">
            <a:solidFill>
              <a:srgbClr val="B8DCF0"/>
            </a:solidFill>
          </a:ln>
        </p:spPr>
        <p:txBody>
          <a:bodyPr lIns="45719" rIns="45719"/>
          <a:lstStyle/>
          <a:p>
            <a:pPr/>
          </a:p>
        </p:txBody>
      </p:sp>
      <p:sp>
        <p:nvSpPr>
          <p:cNvPr id="84" name="Text 4"/>
          <p:cNvSpPr txBox="1"/>
          <p:nvPr/>
        </p:nvSpPr>
        <p:spPr>
          <a:xfrm>
            <a:off x="457200" y="1480218"/>
            <a:ext cx="914400"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11111"/>
                </a:solidFill>
                <a:latin typeface="Arial"/>
                <a:ea typeface="Arial"/>
                <a:cs typeface="Arial"/>
                <a:sym typeface="Arial"/>
              </a:defRPr>
            </a:lvl1pPr>
          </a:lstStyle>
          <a:p>
            <a:pPr/>
            <a:r>
              <a:t>Mode</a:t>
            </a:r>
          </a:p>
        </p:txBody>
      </p:sp>
      <p:sp>
        <p:nvSpPr>
          <p:cNvPr id="85" name="Text 5"/>
          <p:cNvSpPr txBox="1"/>
          <p:nvPr/>
        </p:nvSpPr>
        <p:spPr>
          <a:xfrm>
            <a:off x="1417319" y="1480218"/>
            <a:ext cx="146304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11111"/>
                </a:solidFill>
                <a:latin typeface="Arial"/>
                <a:ea typeface="Arial"/>
                <a:cs typeface="Arial"/>
                <a:sym typeface="Arial"/>
              </a:defRPr>
            </a:lvl1pPr>
          </a:lstStyle>
          <a:p>
            <a:pPr/>
            <a:r>
              <a:t>Frequency (Hz)</a:t>
            </a:r>
          </a:p>
        </p:txBody>
      </p:sp>
      <p:sp>
        <p:nvSpPr>
          <p:cNvPr id="86" name="Text 6"/>
          <p:cNvSpPr txBox="1"/>
          <p:nvPr/>
        </p:nvSpPr>
        <p:spPr>
          <a:xfrm>
            <a:off x="2926079" y="1480218"/>
            <a:ext cx="256032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11111"/>
                </a:solidFill>
                <a:latin typeface="Arial"/>
                <a:ea typeface="Arial"/>
                <a:cs typeface="Arial"/>
                <a:sym typeface="Arial"/>
              </a:defRPr>
            </a:lvl1pPr>
          </a:lstStyle>
          <a:p>
            <a:pPr/>
            <a:r>
              <a:t>Mode Shape</a:t>
            </a:r>
          </a:p>
        </p:txBody>
      </p:sp>
      <p:sp>
        <p:nvSpPr>
          <p:cNvPr id="87" name="Text 7"/>
          <p:cNvSpPr txBox="1"/>
          <p:nvPr/>
        </p:nvSpPr>
        <p:spPr>
          <a:xfrm>
            <a:off x="5532120" y="1480218"/>
            <a:ext cx="347472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300">
                <a:solidFill>
                  <a:srgbClr val="111111"/>
                </a:solidFill>
                <a:latin typeface="Arial"/>
                <a:ea typeface="Arial"/>
                <a:cs typeface="Arial"/>
                <a:sym typeface="Arial"/>
              </a:defRPr>
            </a:lvl1pPr>
          </a:lstStyle>
          <a:p>
            <a:pPr/>
            <a:r>
              <a:t>Significance</a:t>
            </a:r>
          </a:p>
        </p:txBody>
      </p:sp>
      <p:sp>
        <p:nvSpPr>
          <p:cNvPr id="88" name="Shape 8"/>
          <p:cNvSpPr/>
          <p:nvPr/>
        </p:nvSpPr>
        <p:spPr>
          <a:xfrm>
            <a:off x="365759" y="1847088"/>
            <a:ext cx="8412482" cy="502920"/>
          </a:xfrm>
          <a:prstGeom prst="rect">
            <a:avLst/>
          </a:prstGeom>
          <a:solidFill>
            <a:srgbClr val="EAF5FC"/>
          </a:solidFill>
          <a:ln w="12700">
            <a:solidFill>
              <a:srgbClr val="B8DCF0"/>
            </a:solidFill>
          </a:ln>
        </p:spPr>
        <p:txBody>
          <a:bodyPr lIns="45719" rIns="45719"/>
          <a:lstStyle/>
          <a:p>
            <a:pPr/>
          </a:p>
        </p:txBody>
      </p:sp>
      <p:sp>
        <p:nvSpPr>
          <p:cNvPr id="89" name="Text 9"/>
          <p:cNvSpPr txBox="1"/>
          <p:nvPr/>
        </p:nvSpPr>
        <p:spPr>
          <a:xfrm>
            <a:off x="457200" y="2007568"/>
            <a:ext cx="91440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11111"/>
                </a:solidFill>
                <a:latin typeface="Arial"/>
                <a:ea typeface="Arial"/>
                <a:cs typeface="Arial"/>
                <a:sym typeface="Arial"/>
              </a:defRPr>
            </a:lvl1pPr>
          </a:lstStyle>
          <a:p>
            <a:pPr/>
            <a:r>
              <a:t>1</a:t>
            </a:r>
          </a:p>
        </p:txBody>
      </p:sp>
      <p:sp>
        <p:nvSpPr>
          <p:cNvPr id="90" name="Text 10"/>
          <p:cNvSpPr txBox="1"/>
          <p:nvPr/>
        </p:nvSpPr>
        <p:spPr>
          <a:xfrm>
            <a:off x="1417319" y="2007568"/>
            <a:ext cx="1463042"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11111"/>
                </a:solidFill>
                <a:latin typeface="Arial"/>
                <a:ea typeface="Arial"/>
                <a:cs typeface="Arial"/>
                <a:sym typeface="Arial"/>
              </a:defRPr>
            </a:lvl1pPr>
          </a:lstStyle>
          <a:p>
            <a:pPr/>
            <a:r>
              <a:t>4.846</a:t>
            </a:r>
          </a:p>
        </p:txBody>
      </p:sp>
      <p:sp>
        <p:nvSpPr>
          <p:cNvPr id="91" name="Text 11"/>
          <p:cNvSpPr txBox="1"/>
          <p:nvPr/>
        </p:nvSpPr>
        <p:spPr>
          <a:xfrm>
            <a:off x="2926079" y="2007568"/>
            <a:ext cx="2560321"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11111"/>
                </a:solidFill>
                <a:latin typeface="Arial"/>
                <a:ea typeface="Arial"/>
                <a:cs typeface="Arial"/>
                <a:sym typeface="Arial"/>
              </a:defRPr>
            </a:lvl1pPr>
          </a:lstStyle>
          <a:p>
            <a:pPr/>
            <a:r>
              <a:t>1st lateral bending</a:t>
            </a:r>
          </a:p>
        </p:txBody>
      </p:sp>
      <p:sp>
        <p:nvSpPr>
          <p:cNvPr id="92" name="Text 12"/>
          <p:cNvSpPr txBox="1"/>
          <p:nvPr/>
        </p:nvSpPr>
        <p:spPr>
          <a:xfrm>
            <a:off x="5532120" y="2007568"/>
            <a:ext cx="3474721"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11111"/>
                </a:solidFill>
                <a:latin typeface="Arial"/>
                <a:ea typeface="Arial"/>
                <a:cs typeface="Arial"/>
                <a:sym typeface="Arial"/>
              </a:defRPr>
            </a:lvl1pPr>
          </a:lstStyle>
          <a:p>
            <a:pPr/>
            <a:r>
              <a:t>Primary seismic risk — design target</a:t>
            </a:r>
          </a:p>
        </p:txBody>
      </p:sp>
      <p:sp>
        <p:nvSpPr>
          <p:cNvPr id="93" name="Shape 13"/>
          <p:cNvSpPr/>
          <p:nvPr/>
        </p:nvSpPr>
        <p:spPr>
          <a:xfrm>
            <a:off x="365759" y="2368295"/>
            <a:ext cx="8412482" cy="502920"/>
          </a:xfrm>
          <a:prstGeom prst="rect">
            <a:avLst/>
          </a:prstGeom>
          <a:solidFill>
            <a:srgbClr val="FFFFFF"/>
          </a:solidFill>
          <a:ln w="12700">
            <a:solidFill>
              <a:srgbClr val="B8DCF0"/>
            </a:solidFill>
          </a:ln>
        </p:spPr>
        <p:txBody>
          <a:bodyPr lIns="45719" rIns="45719"/>
          <a:lstStyle/>
          <a:p>
            <a:pPr/>
          </a:p>
        </p:txBody>
      </p:sp>
      <p:sp>
        <p:nvSpPr>
          <p:cNvPr id="94" name="Text 14"/>
          <p:cNvSpPr txBox="1"/>
          <p:nvPr/>
        </p:nvSpPr>
        <p:spPr>
          <a:xfrm>
            <a:off x="457200" y="2528776"/>
            <a:ext cx="914400"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11111"/>
                </a:solidFill>
                <a:latin typeface="Arial"/>
                <a:ea typeface="Arial"/>
                <a:cs typeface="Arial"/>
                <a:sym typeface="Arial"/>
              </a:defRPr>
            </a:lvl1pPr>
          </a:lstStyle>
          <a:p>
            <a:pPr/>
            <a:r>
              <a:t>2</a:t>
            </a:r>
          </a:p>
        </p:txBody>
      </p:sp>
      <p:sp>
        <p:nvSpPr>
          <p:cNvPr id="95" name="Text 15"/>
          <p:cNvSpPr txBox="1"/>
          <p:nvPr/>
        </p:nvSpPr>
        <p:spPr>
          <a:xfrm>
            <a:off x="1417319" y="2528776"/>
            <a:ext cx="1463042"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11111"/>
                </a:solidFill>
                <a:latin typeface="Arial"/>
                <a:ea typeface="Arial"/>
                <a:cs typeface="Arial"/>
                <a:sym typeface="Arial"/>
              </a:defRPr>
            </a:lvl1pPr>
          </a:lstStyle>
          <a:p>
            <a:pPr/>
            <a:r>
              <a:t>13.506</a:t>
            </a:r>
          </a:p>
        </p:txBody>
      </p:sp>
      <p:sp>
        <p:nvSpPr>
          <p:cNvPr id="96" name="Text 16"/>
          <p:cNvSpPr txBox="1"/>
          <p:nvPr/>
        </p:nvSpPr>
        <p:spPr>
          <a:xfrm>
            <a:off x="2926079" y="2528776"/>
            <a:ext cx="2560321"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11111"/>
                </a:solidFill>
                <a:latin typeface="Arial"/>
                <a:ea typeface="Arial"/>
                <a:cs typeface="Arial"/>
                <a:sym typeface="Arial"/>
              </a:defRPr>
            </a:lvl1pPr>
          </a:lstStyle>
          <a:p>
            <a:pPr/>
            <a:r>
              <a:t>2nd lateral bending</a:t>
            </a:r>
          </a:p>
        </p:txBody>
      </p:sp>
      <p:sp>
        <p:nvSpPr>
          <p:cNvPr id="97" name="Text 17"/>
          <p:cNvSpPr txBox="1"/>
          <p:nvPr/>
        </p:nvSpPr>
        <p:spPr>
          <a:xfrm>
            <a:off x="5532120" y="2528776"/>
            <a:ext cx="3474721"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11111"/>
                </a:solidFill>
                <a:latin typeface="Arial"/>
                <a:ea typeface="Arial"/>
                <a:cs typeface="Arial"/>
                <a:sym typeface="Arial"/>
              </a:defRPr>
            </a:lvl1pPr>
          </a:lstStyle>
          <a:p>
            <a:pPr/>
            <a:r>
              <a:t>Secondary target</a:t>
            </a:r>
          </a:p>
        </p:txBody>
      </p:sp>
      <p:sp>
        <p:nvSpPr>
          <p:cNvPr id="98" name="Shape 18"/>
          <p:cNvSpPr/>
          <p:nvPr/>
        </p:nvSpPr>
        <p:spPr>
          <a:xfrm>
            <a:off x="365759" y="2889504"/>
            <a:ext cx="8412482" cy="502920"/>
          </a:xfrm>
          <a:prstGeom prst="rect">
            <a:avLst/>
          </a:prstGeom>
          <a:solidFill>
            <a:srgbClr val="EAF5FC"/>
          </a:solidFill>
          <a:ln w="12700">
            <a:solidFill>
              <a:srgbClr val="B8DCF0"/>
            </a:solidFill>
          </a:ln>
        </p:spPr>
        <p:txBody>
          <a:bodyPr lIns="45719" rIns="45719"/>
          <a:lstStyle/>
          <a:p>
            <a:pPr/>
          </a:p>
        </p:txBody>
      </p:sp>
      <p:sp>
        <p:nvSpPr>
          <p:cNvPr id="99" name="Text 19"/>
          <p:cNvSpPr txBox="1"/>
          <p:nvPr/>
        </p:nvSpPr>
        <p:spPr>
          <a:xfrm>
            <a:off x="457200" y="3049984"/>
            <a:ext cx="914400"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11111"/>
                </a:solidFill>
                <a:latin typeface="Arial"/>
                <a:ea typeface="Arial"/>
                <a:cs typeface="Arial"/>
                <a:sym typeface="Arial"/>
              </a:defRPr>
            </a:lvl1pPr>
          </a:lstStyle>
          <a:p>
            <a:pPr/>
            <a:r>
              <a:t>3</a:t>
            </a:r>
          </a:p>
        </p:txBody>
      </p:sp>
      <p:sp>
        <p:nvSpPr>
          <p:cNvPr id="100" name="Text 20"/>
          <p:cNvSpPr txBox="1"/>
          <p:nvPr/>
        </p:nvSpPr>
        <p:spPr>
          <a:xfrm>
            <a:off x="1417319" y="3049984"/>
            <a:ext cx="1463042"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11111"/>
                </a:solidFill>
                <a:latin typeface="Arial"/>
                <a:ea typeface="Arial"/>
                <a:cs typeface="Arial"/>
                <a:sym typeface="Arial"/>
              </a:defRPr>
            </a:lvl1pPr>
          </a:lstStyle>
          <a:p>
            <a:pPr/>
            <a:r>
              <a:t>18.417</a:t>
            </a:r>
          </a:p>
        </p:txBody>
      </p:sp>
      <p:sp>
        <p:nvSpPr>
          <p:cNvPr id="101" name="Text 21"/>
          <p:cNvSpPr txBox="1"/>
          <p:nvPr/>
        </p:nvSpPr>
        <p:spPr>
          <a:xfrm>
            <a:off x="2926079" y="3049984"/>
            <a:ext cx="2560321"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11111"/>
                </a:solidFill>
                <a:latin typeface="Arial"/>
                <a:ea typeface="Arial"/>
                <a:cs typeface="Arial"/>
                <a:sym typeface="Arial"/>
              </a:defRPr>
            </a:lvl1pPr>
          </a:lstStyle>
          <a:p>
            <a:pPr/>
            <a:r>
              <a:t>Torsional</a:t>
            </a:r>
          </a:p>
        </p:txBody>
      </p:sp>
      <p:sp>
        <p:nvSpPr>
          <p:cNvPr id="102" name="Shape 23"/>
          <p:cNvSpPr/>
          <p:nvPr/>
        </p:nvSpPr>
        <p:spPr>
          <a:xfrm>
            <a:off x="365759" y="3410711"/>
            <a:ext cx="8412482" cy="502920"/>
          </a:xfrm>
          <a:prstGeom prst="rect">
            <a:avLst/>
          </a:prstGeom>
          <a:solidFill>
            <a:srgbClr val="FFFFFF"/>
          </a:solidFill>
          <a:ln w="12700">
            <a:solidFill>
              <a:srgbClr val="B8DCF0"/>
            </a:solidFill>
          </a:ln>
        </p:spPr>
        <p:txBody>
          <a:bodyPr lIns="45719" rIns="45719"/>
          <a:lstStyle/>
          <a:p>
            <a:pPr/>
          </a:p>
        </p:txBody>
      </p:sp>
      <p:sp>
        <p:nvSpPr>
          <p:cNvPr id="103" name="Text 24"/>
          <p:cNvSpPr txBox="1"/>
          <p:nvPr/>
        </p:nvSpPr>
        <p:spPr>
          <a:xfrm>
            <a:off x="457200" y="3571192"/>
            <a:ext cx="914400"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11111"/>
                </a:solidFill>
                <a:latin typeface="Arial"/>
                <a:ea typeface="Arial"/>
                <a:cs typeface="Arial"/>
                <a:sym typeface="Arial"/>
              </a:defRPr>
            </a:lvl1pPr>
          </a:lstStyle>
          <a:p>
            <a:pPr/>
            <a:r>
              <a:t>4</a:t>
            </a:r>
          </a:p>
        </p:txBody>
      </p:sp>
      <p:sp>
        <p:nvSpPr>
          <p:cNvPr id="104" name="Text 25"/>
          <p:cNvSpPr txBox="1"/>
          <p:nvPr/>
        </p:nvSpPr>
        <p:spPr>
          <a:xfrm>
            <a:off x="1417319" y="3571192"/>
            <a:ext cx="1463042"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11111"/>
                </a:solidFill>
                <a:latin typeface="Arial"/>
                <a:ea typeface="Arial"/>
                <a:cs typeface="Arial"/>
                <a:sym typeface="Arial"/>
              </a:defRPr>
            </a:lvl1pPr>
          </a:lstStyle>
          <a:p>
            <a:pPr/>
            <a:r>
              <a:t>18.88</a:t>
            </a:r>
          </a:p>
        </p:txBody>
      </p:sp>
      <p:sp>
        <p:nvSpPr>
          <p:cNvPr id="105" name="Text 26"/>
          <p:cNvSpPr txBox="1"/>
          <p:nvPr/>
        </p:nvSpPr>
        <p:spPr>
          <a:xfrm>
            <a:off x="2926079" y="3571192"/>
            <a:ext cx="2560321"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11111"/>
                </a:solidFill>
                <a:latin typeface="Arial"/>
                <a:ea typeface="Arial"/>
                <a:cs typeface="Arial"/>
                <a:sym typeface="Arial"/>
              </a:defRPr>
            </a:lvl1pPr>
          </a:lstStyle>
          <a:p>
            <a:pPr/>
            <a:r>
              <a:t>Higher lateral</a:t>
            </a:r>
          </a:p>
        </p:txBody>
      </p:sp>
      <p:sp>
        <p:nvSpPr>
          <p:cNvPr id="106" name="Shape 28"/>
          <p:cNvSpPr/>
          <p:nvPr/>
        </p:nvSpPr>
        <p:spPr>
          <a:xfrm>
            <a:off x="365759" y="3931920"/>
            <a:ext cx="8412482" cy="502920"/>
          </a:xfrm>
          <a:prstGeom prst="rect">
            <a:avLst/>
          </a:prstGeom>
          <a:solidFill>
            <a:srgbClr val="EAF5FC"/>
          </a:solidFill>
          <a:ln w="12700">
            <a:solidFill>
              <a:srgbClr val="B8DCF0"/>
            </a:solidFill>
          </a:ln>
        </p:spPr>
        <p:txBody>
          <a:bodyPr lIns="45719" rIns="45719"/>
          <a:lstStyle/>
          <a:p>
            <a:pPr/>
          </a:p>
        </p:txBody>
      </p:sp>
      <p:sp>
        <p:nvSpPr>
          <p:cNvPr id="107" name="Text 29"/>
          <p:cNvSpPr txBox="1"/>
          <p:nvPr/>
        </p:nvSpPr>
        <p:spPr>
          <a:xfrm>
            <a:off x="457200" y="4092400"/>
            <a:ext cx="91440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11111"/>
                </a:solidFill>
                <a:latin typeface="Arial"/>
                <a:ea typeface="Arial"/>
                <a:cs typeface="Arial"/>
                <a:sym typeface="Arial"/>
              </a:defRPr>
            </a:lvl1pPr>
          </a:lstStyle>
          <a:p>
            <a:pPr/>
            <a:r>
              <a:t>5</a:t>
            </a:r>
          </a:p>
        </p:txBody>
      </p:sp>
      <p:sp>
        <p:nvSpPr>
          <p:cNvPr id="108" name="Text 30"/>
          <p:cNvSpPr txBox="1"/>
          <p:nvPr/>
        </p:nvSpPr>
        <p:spPr>
          <a:xfrm>
            <a:off x="1417319" y="4092400"/>
            <a:ext cx="1463042"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11111"/>
                </a:solidFill>
                <a:latin typeface="Arial"/>
                <a:ea typeface="Arial"/>
                <a:cs typeface="Arial"/>
                <a:sym typeface="Arial"/>
              </a:defRPr>
            </a:lvl1pPr>
          </a:lstStyle>
          <a:p>
            <a:pPr/>
            <a:r>
              <a:t>22.253</a:t>
            </a:r>
          </a:p>
        </p:txBody>
      </p:sp>
      <p:sp>
        <p:nvSpPr>
          <p:cNvPr id="109" name="Text 31"/>
          <p:cNvSpPr txBox="1"/>
          <p:nvPr/>
        </p:nvSpPr>
        <p:spPr>
          <a:xfrm>
            <a:off x="2926079" y="4092400"/>
            <a:ext cx="2560321"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11111"/>
                </a:solidFill>
                <a:latin typeface="Arial"/>
                <a:ea typeface="Arial"/>
                <a:cs typeface="Arial"/>
                <a:sym typeface="Arial"/>
              </a:defRPr>
            </a:lvl1pPr>
          </a:lstStyle>
          <a:p>
            <a:pPr/>
            <a:r>
              <a:t>Combined</a:t>
            </a:r>
          </a:p>
        </p:txBody>
      </p:sp>
      <p:sp>
        <p:nvSpPr>
          <p:cNvPr id="110" name="Shape 33"/>
          <p:cNvSpPr/>
          <p:nvPr/>
        </p:nvSpPr>
        <p:spPr>
          <a:xfrm>
            <a:off x="365759" y="4453128"/>
            <a:ext cx="8412482" cy="502920"/>
          </a:xfrm>
          <a:prstGeom prst="rect">
            <a:avLst/>
          </a:prstGeom>
          <a:solidFill>
            <a:srgbClr val="FFFFFF"/>
          </a:solidFill>
          <a:ln w="12700">
            <a:solidFill>
              <a:srgbClr val="B8DCF0"/>
            </a:solidFill>
          </a:ln>
        </p:spPr>
        <p:txBody>
          <a:bodyPr lIns="45719" rIns="45719"/>
          <a:lstStyle/>
          <a:p>
            <a:pPr/>
          </a:p>
        </p:txBody>
      </p:sp>
      <p:sp>
        <p:nvSpPr>
          <p:cNvPr id="111" name="Text 34"/>
          <p:cNvSpPr txBox="1"/>
          <p:nvPr/>
        </p:nvSpPr>
        <p:spPr>
          <a:xfrm>
            <a:off x="457200" y="4613608"/>
            <a:ext cx="914400"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111111"/>
                </a:solidFill>
                <a:latin typeface="Arial"/>
                <a:ea typeface="Arial"/>
                <a:cs typeface="Arial"/>
                <a:sym typeface="Arial"/>
              </a:defRPr>
            </a:lvl1pPr>
          </a:lstStyle>
          <a:p>
            <a:pPr/>
            <a:r>
              <a:t>6</a:t>
            </a:r>
          </a:p>
        </p:txBody>
      </p:sp>
      <p:sp>
        <p:nvSpPr>
          <p:cNvPr id="112" name="Text 35"/>
          <p:cNvSpPr txBox="1"/>
          <p:nvPr/>
        </p:nvSpPr>
        <p:spPr>
          <a:xfrm>
            <a:off x="1417319" y="4613608"/>
            <a:ext cx="1463042"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11111"/>
                </a:solidFill>
                <a:latin typeface="Arial"/>
                <a:ea typeface="Arial"/>
                <a:cs typeface="Arial"/>
                <a:sym typeface="Arial"/>
              </a:defRPr>
            </a:lvl1pPr>
          </a:lstStyle>
          <a:p>
            <a:pPr/>
            <a:r>
              <a:t>51.393</a:t>
            </a:r>
          </a:p>
        </p:txBody>
      </p:sp>
      <p:sp>
        <p:nvSpPr>
          <p:cNvPr id="113" name="Text 36"/>
          <p:cNvSpPr txBox="1"/>
          <p:nvPr/>
        </p:nvSpPr>
        <p:spPr>
          <a:xfrm>
            <a:off x="2926079" y="4613608"/>
            <a:ext cx="2560321"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11111"/>
                </a:solidFill>
                <a:latin typeface="Arial"/>
                <a:ea typeface="Arial"/>
                <a:cs typeface="Arial"/>
                <a:sym typeface="Arial"/>
              </a:defRPr>
            </a:lvl1pPr>
          </a:lstStyle>
          <a:p>
            <a:pPr/>
            <a:r>
              <a:t>High-freq. axial</a:t>
            </a:r>
          </a:p>
        </p:txBody>
      </p:sp>
      <p:sp>
        <p:nvSpPr>
          <p:cNvPr id="114" name="Text 38"/>
          <p:cNvSpPr txBox="1"/>
          <p:nvPr/>
        </p:nvSpPr>
        <p:spPr>
          <a:xfrm>
            <a:off x="365759" y="4988071"/>
            <a:ext cx="841248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100">
                <a:solidFill>
                  <a:srgbClr val="444444"/>
                </a:solidFill>
                <a:latin typeface="Carlito"/>
                <a:ea typeface="Carlito"/>
                <a:cs typeface="Carlito"/>
                <a:sym typeface="Carlito"/>
              </a:defRPr>
            </a:lvl1pPr>
          </a:lstStyle>
          <a:p>
            <a:pPr/>
            <a:r>
              <a:t>Critical design frequencies: Mode 1 (4.846 Hz) and Mode 2 (13.506 Hz). Passive and active systems tuned to suppress these modes.</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16" name="Image" descr="Image"/>
          <p:cNvPicPr>
            <a:picLocks noChangeAspect="1"/>
          </p:cNvPicPr>
          <p:nvPr/>
        </p:nvPicPr>
        <p:blipFill>
          <a:blip r:embed="rId2">
            <a:extLst/>
          </a:blip>
          <a:stretch>
            <a:fillRect/>
          </a:stretch>
        </p:blipFill>
        <p:spPr>
          <a:xfrm>
            <a:off x="-1" y="499061"/>
            <a:ext cx="9144001" cy="4148077"/>
          </a:xfrm>
          <a:prstGeom prst="rect">
            <a:avLst/>
          </a:prstGeom>
          <a:ln w="12700">
            <a:miter lim="400000"/>
          </a:ln>
        </p:spPr>
      </p:pic>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18" name="Image" descr="Image"/>
          <p:cNvPicPr>
            <a:picLocks noChangeAspect="1"/>
          </p:cNvPicPr>
          <p:nvPr/>
        </p:nvPicPr>
        <p:blipFill>
          <a:blip r:embed="rId2">
            <a:extLst/>
          </a:blip>
          <a:stretch>
            <a:fillRect/>
          </a:stretch>
        </p:blipFill>
        <p:spPr>
          <a:xfrm>
            <a:off x="1033" y="542930"/>
            <a:ext cx="9144001" cy="4054079"/>
          </a:xfrm>
          <a:prstGeom prst="rect">
            <a:avLst/>
          </a:prstGeom>
          <a:ln w="12700">
            <a:miter lim="400000"/>
          </a:ln>
        </p:spPr>
      </p:pic>
      <p:sp>
        <p:nvSpPr>
          <p:cNvPr id="119" name="Natural Frequencies : Modal Analysis"/>
          <p:cNvSpPr txBox="1"/>
          <p:nvPr/>
        </p:nvSpPr>
        <p:spPr>
          <a:xfrm>
            <a:off x="167475" y="153624"/>
            <a:ext cx="3527449" cy="333088"/>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Natural Frequencies : Modal Analysis</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21" name="Image" descr="Image"/>
          <p:cNvPicPr>
            <a:picLocks noChangeAspect="1"/>
          </p:cNvPicPr>
          <p:nvPr/>
        </p:nvPicPr>
        <p:blipFill>
          <a:blip r:embed="rId2">
            <a:extLst/>
          </a:blip>
          <a:stretch>
            <a:fillRect/>
          </a:stretch>
        </p:blipFill>
        <p:spPr>
          <a:xfrm>
            <a:off x="0" y="675289"/>
            <a:ext cx="9144001" cy="4259682"/>
          </a:xfrm>
          <a:prstGeom prst="rect">
            <a:avLst/>
          </a:prstGeom>
          <a:ln w="12700">
            <a:miter lim="400000"/>
          </a:ln>
        </p:spPr>
      </p:pic>
      <p:sp>
        <p:nvSpPr>
          <p:cNvPr id="122" name="Harmonic Response Analysis"/>
          <p:cNvSpPr txBox="1"/>
          <p:nvPr/>
        </p:nvSpPr>
        <p:spPr>
          <a:xfrm>
            <a:off x="251461" y="220812"/>
            <a:ext cx="2745654" cy="333089"/>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r>
              <a:t>Harmonic Response Analysis</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C8E6F5"/>
        </a:solidFill>
      </p:bgPr>
    </p:bg>
    <p:spTree>
      <p:nvGrpSpPr>
        <p:cNvPr id="1" name=""/>
        <p:cNvGrpSpPr/>
        <p:nvPr/>
      </p:nvGrpSpPr>
      <p:grpSpPr>
        <a:xfrm>
          <a:off x="0" y="0"/>
          <a:ext cx="0" cy="0"/>
          <a:chOff x="0" y="0"/>
          <a:chExt cx="0" cy="0"/>
        </a:xfrm>
      </p:grpSpPr>
      <p:sp>
        <p:nvSpPr>
          <p:cNvPr id="124" name="Shape 0"/>
          <p:cNvSpPr/>
          <p:nvPr/>
        </p:nvSpPr>
        <p:spPr>
          <a:xfrm>
            <a:off x="-2286000" y="3017520"/>
            <a:ext cx="13716000" cy="4572001"/>
          </a:xfrm>
          <a:prstGeom prst="ellipse">
            <a:avLst/>
          </a:prstGeom>
          <a:solidFill>
            <a:srgbClr val="FFFFFF"/>
          </a:solidFill>
          <a:ln w="12700">
            <a:solidFill>
              <a:srgbClr val="FFFFFF"/>
            </a:solidFill>
          </a:ln>
        </p:spPr>
        <p:txBody>
          <a:bodyPr lIns="45719" rIns="45719"/>
          <a:lstStyle/>
          <a:p>
            <a:pPr/>
          </a:p>
        </p:txBody>
      </p:sp>
      <p:sp>
        <p:nvSpPr>
          <p:cNvPr id="125" name="Text 1"/>
          <p:cNvSpPr txBox="1"/>
          <p:nvPr/>
        </p:nvSpPr>
        <p:spPr>
          <a:xfrm>
            <a:off x="365759" y="242336"/>
            <a:ext cx="8412482" cy="5303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111111"/>
                </a:solidFill>
                <a:latin typeface="Arial"/>
                <a:ea typeface="Arial"/>
                <a:cs typeface="Arial"/>
                <a:sym typeface="Arial"/>
              </a:defRPr>
            </a:lvl1pPr>
          </a:lstStyle>
          <a:p>
            <a:pPr/>
            <a:r>
              <a:t>Passive Damping System</a:t>
            </a:r>
          </a:p>
        </p:txBody>
      </p:sp>
      <p:sp>
        <p:nvSpPr>
          <p:cNvPr id="126" name="Text 2"/>
          <p:cNvSpPr txBox="1"/>
          <p:nvPr/>
        </p:nvSpPr>
        <p:spPr>
          <a:xfrm>
            <a:off x="365759" y="958525"/>
            <a:ext cx="8229601"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111111"/>
                </a:solidFill>
                <a:latin typeface="Arial"/>
                <a:ea typeface="Arial"/>
                <a:cs typeface="Arial"/>
                <a:sym typeface="Arial"/>
              </a:defRPr>
            </a:lvl1pPr>
          </a:lstStyle>
          <a:p>
            <a:pPr/>
            <a:r>
              <a:t>Spring-Based Base Isolation</a:t>
            </a:r>
          </a:p>
        </p:txBody>
      </p:sp>
      <p:sp>
        <p:nvSpPr>
          <p:cNvPr id="127" name="Text 3"/>
          <p:cNvSpPr txBox="1"/>
          <p:nvPr/>
        </p:nvSpPr>
        <p:spPr>
          <a:xfrm>
            <a:off x="365759" y="1877982"/>
            <a:ext cx="8321042" cy="2471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What is Passive Damping?</a:t>
            </a:r>
          </a:p>
          <a:p>
            <a:pPr>
              <a:defRPr b="1" sz="1300">
                <a:solidFill>
                  <a:srgbClr val="111111"/>
                </a:solidFill>
                <a:latin typeface="Arial"/>
                <a:ea typeface="Arial"/>
                <a:cs typeface="Arial"/>
                <a:sym typeface="Arial"/>
              </a:defRPr>
            </a:pPr>
            <a:r>
              <a:rPr b="0"/>
              <a:t>Passive damping uses mechanical elements, such as springs, rubber pads, or friction dampers, placed between the building foundation and the ground. They absorb and dissipate seismic energy without requiring any external power or control signal.</a:t>
            </a:r>
            <a:endParaRPr b="0"/>
          </a:p>
          <a:p>
            <a:pPr>
              <a:defRPr b="1" sz="1300">
                <a:solidFill>
                  <a:srgbClr val="111111"/>
                </a:solidFill>
                <a:latin typeface="Arial"/>
                <a:ea typeface="Arial"/>
                <a:cs typeface="Arial"/>
                <a:sym typeface="Arial"/>
              </a:defRPr>
            </a:pPr>
            <a:endParaRPr b="0"/>
          </a:p>
          <a:p>
            <a:pPr>
              <a:defRPr b="1" sz="1300">
                <a:solidFill>
                  <a:srgbClr val="111111"/>
                </a:solidFill>
                <a:latin typeface="Arial"/>
                <a:ea typeface="Arial"/>
                <a:cs typeface="Arial"/>
                <a:sym typeface="Arial"/>
              </a:defRPr>
            </a:pPr>
            <a:r>
              <a:t>Our Implementation</a:t>
            </a:r>
          </a:p>
          <a:p>
            <a:pPr>
              <a:defRPr b="1" sz="1300">
                <a:solidFill>
                  <a:srgbClr val="111111"/>
                </a:solidFill>
                <a:latin typeface="Arial"/>
                <a:ea typeface="Arial"/>
                <a:cs typeface="Arial"/>
                <a:sym typeface="Arial"/>
              </a:defRPr>
            </a:pPr>
            <a:r>
              <a:rPr b="0"/>
              <a:t>Springs are installed at the four base corners of the acrylic building model. When the shake table excites the structure, the springs decouple ground motion from the building frame, significantly reducing the energy transmitted to the floors.</a:t>
            </a:r>
            <a:endParaRPr b="0"/>
          </a:p>
          <a:p>
            <a:pPr>
              <a:defRPr b="1" sz="1300">
                <a:solidFill>
                  <a:srgbClr val="111111"/>
                </a:solidFill>
                <a:latin typeface="Arial"/>
                <a:ea typeface="Arial"/>
                <a:cs typeface="Arial"/>
                <a:sym typeface="Arial"/>
              </a:defRPr>
            </a:pPr>
            <a:endParaRPr b="0"/>
          </a:p>
          <a:p>
            <a:pPr>
              <a:defRPr b="1" sz="1300">
                <a:solidFill>
                  <a:srgbClr val="111111"/>
                </a:solidFill>
                <a:latin typeface="Arial"/>
                <a:ea typeface="Arial"/>
                <a:cs typeface="Arial"/>
                <a:sym typeface="Arial"/>
              </a:defRPr>
            </a:pPr>
            <a:r>
              <a:t>Limitation</a:t>
            </a:r>
          </a:p>
          <a:p>
            <a:pPr>
              <a:defRPr b="1" sz="1300">
                <a:solidFill>
                  <a:srgbClr val="111111"/>
                </a:solidFill>
                <a:latin typeface="Arial"/>
                <a:ea typeface="Arial"/>
                <a:cs typeface="Arial"/>
                <a:sym typeface="Arial"/>
              </a:defRPr>
            </a:pPr>
            <a:r>
              <a:rPr b="0"/>
              <a:t>Passive systems are designed for a fixed frequency range. At excitation frequencies near natural modes (4.846 Hz, 13.5 Hz), residual vibration persists, which is why active control is also employed.</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C8E6F5"/>
        </a:solidFill>
      </p:bgPr>
    </p:bg>
    <p:spTree>
      <p:nvGrpSpPr>
        <p:cNvPr id="1" name=""/>
        <p:cNvGrpSpPr/>
        <p:nvPr/>
      </p:nvGrpSpPr>
      <p:grpSpPr>
        <a:xfrm>
          <a:off x="0" y="0"/>
          <a:ext cx="0" cy="0"/>
          <a:chOff x="0" y="0"/>
          <a:chExt cx="0" cy="0"/>
        </a:xfrm>
      </p:grpSpPr>
      <p:sp>
        <p:nvSpPr>
          <p:cNvPr id="129" name="Shape 0"/>
          <p:cNvSpPr/>
          <p:nvPr/>
        </p:nvSpPr>
        <p:spPr>
          <a:xfrm>
            <a:off x="-2286000" y="3017520"/>
            <a:ext cx="13716000" cy="4572001"/>
          </a:xfrm>
          <a:prstGeom prst="ellipse">
            <a:avLst/>
          </a:prstGeom>
          <a:solidFill>
            <a:srgbClr val="FFFFFF"/>
          </a:solidFill>
          <a:ln w="12700">
            <a:solidFill>
              <a:srgbClr val="FFFFFF"/>
            </a:solidFill>
          </a:ln>
        </p:spPr>
        <p:txBody>
          <a:bodyPr lIns="45719" rIns="45719"/>
          <a:lstStyle/>
          <a:p>
            <a:pPr/>
          </a:p>
        </p:txBody>
      </p:sp>
      <p:sp>
        <p:nvSpPr>
          <p:cNvPr id="130" name="Text 1"/>
          <p:cNvSpPr txBox="1"/>
          <p:nvPr/>
        </p:nvSpPr>
        <p:spPr>
          <a:xfrm>
            <a:off x="365759" y="242336"/>
            <a:ext cx="8412482" cy="5303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111111"/>
                </a:solidFill>
                <a:latin typeface="Arial"/>
                <a:ea typeface="Arial"/>
                <a:cs typeface="Arial"/>
                <a:sym typeface="Arial"/>
              </a:defRPr>
            </a:lvl1pPr>
          </a:lstStyle>
          <a:p>
            <a:pPr/>
            <a:r>
              <a:t>Active Damping System</a:t>
            </a:r>
          </a:p>
        </p:txBody>
      </p:sp>
      <p:sp>
        <p:nvSpPr>
          <p:cNvPr id="131" name="Text 2"/>
          <p:cNvSpPr txBox="1"/>
          <p:nvPr/>
        </p:nvSpPr>
        <p:spPr>
          <a:xfrm>
            <a:off x="365759" y="958525"/>
            <a:ext cx="8229601"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111111"/>
                </a:solidFill>
                <a:latin typeface="Arial"/>
                <a:ea typeface="Arial"/>
                <a:cs typeface="Arial"/>
                <a:sym typeface="Arial"/>
              </a:defRPr>
            </a:lvl1pPr>
          </a:lstStyle>
          <a:p>
            <a:pPr/>
            <a:r>
              <a:t>Arduino Mega + MPU6050 + High-Torque Servo</a:t>
            </a:r>
          </a:p>
        </p:txBody>
      </p:sp>
      <p:sp>
        <p:nvSpPr>
          <p:cNvPr id="132" name="Text 3"/>
          <p:cNvSpPr txBox="1"/>
          <p:nvPr/>
        </p:nvSpPr>
        <p:spPr>
          <a:xfrm>
            <a:off x="365759" y="1604424"/>
            <a:ext cx="8321042"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Arduino Mega 2560: </a:t>
            </a:r>
            <a:r>
              <a:rPr b="0"/>
              <a:t>Main microcontroller (16 MHz, 54 I/O pins). Reads accelerometer data via I²C and outputs PWM signal to servo. Runs real-time PID loop at ~100 Hz.</a:t>
            </a:r>
          </a:p>
        </p:txBody>
      </p:sp>
      <p:sp>
        <p:nvSpPr>
          <p:cNvPr id="133" name="Text 4"/>
          <p:cNvSpPr txBox="1"/>
          <p:nvPr/>
        </p:nvSpPr>
        <p:spPr>
          <a:xfrm>
            <a:off x="365759" y="2564544"/>
            <a:ext cx="8321042"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MPU6050 Accelerometer / Gyro: </a:t>
            </a:r>
            <a:r>
              <a:rPr b="0"/>
              <a:t>6-DOF sensor, 16-bit resolution, ±16g range. Measures storey acceleration in real time via I²C. Provides error feedback for the PID controller.</a:t>
            </a:r>
          </a:p>
        </p:txBody>
      </p:sp>
      <p:sp>
        <p:nvSpPr>
          <p:cNvPr id="134" name="Text 5"/>
          <p:cNvSpPr txBox="1"/>
          <p:nvPr/>
        </p:nvSpPr>
        <p:spPr>
          <a:xfrm>
            <a:off x="365759" y="3524664"/>
            <a:ext cx="8321042"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High-Torque Servo Motor: </a:t>
            </a:r>
            <a:r>
              <a:rPr b="0"/>
              <a:t>Active actuator physically attached to the building frame column. Generates controlled counter-torque proportional to the PID output to suppress residual vibrations.</a:t>
            </a:r>
          </a:p>
        </p:txBody>
      </p:sp>
      <p:sp>
        <p:nvSpPr>
          <p:cNvPr id="135" name="Text 6"/>
          <p:cNvSpPr txBox="1"/>
          <p:nvPr/>
        </p:nvSpPr>
        <p:spPr>
          <a:xfrm>
            <a:off x="365759" y="4437840"/>
            <a:ext cx="8321042" cy="3506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111111"/>
                </a:solidFill>
                <a:latin typeface="Arial"/>
                <a:ea typeface="Arial"/>
                <a:cs typeface="Arial"/>
                <a:sym typeface="Arial"/>
              </a:defRPr>
            </a:pPr>
            <a:r>
              <a:t>Control Loop: </a:t>
            </a:r>
            <a:r>
              <a:rPr b="0"/>
              <a:t>MPU6050 senses vibration  →  Arduino reads acceleration  →  PID computes error &amp; output  →  Servo generates counter-torque  →  Vibration suppressed</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C8E6F5"/>
        </a:solidFill>
      </p:bgPr>
    </p:bg>
    <p:spTree>
      <p:nvGrpSpPr>
        <p:cNvPr id="1" name=""/>
        <p:cNvGrpSpPr/>
        <p:nvPr/>
      </p:nvGrpSpPr>
      <p:grpSpPr>
        <a:xfrm>
          <a:off x="0" y="0"/>
          <a:ext cx="0" cy="0"/>
          <a:chOff x="0" y="0"/>
          <a:chExt cx="0" cy="0"/>
        </a:xfrm>
      </p:grpSpPr>
      <p:sp>
        <p:nvSpPr>
          <p:cNvPr id="137" name="Shape 0"/>
          <p:cNvSpPr/>
          <p:nvPr/>
        </p:nvSpPr>
        <p:spPr>
          <a:xfrm>
            <a:off x="-2286000" y="3017520"/>
            <a:ext cx="13716000" cy="4572001"/>
          </a:xfrm>
          <a:prstGeom prst="ellipse">
            <a:avLst/>
          </a:prstGeom>
          <a:solidFill>
            <a:srgbClr val="FFFFFF"/>
          </a:solidFill>
          <a:ln w="12700">
            <a:solidFill>
              <a:srgbClr val="FFFFFF"/>
            </a:solidFill>
          </a:ln>
        </p:spPr>
        <p:txBody>
          <a:bodyPr lIns="45719" rIns="45719"/>
          <a:lstStyle/>
          <a:p>
            <a:pPr/>
          </a:p>
        </p:txBody>
      </p:sp>
      <p:sp>
        <p:nvSpPr>
          <p:cNvPr id="138" name="Text 1"/>
          <p:cNvSpPr txBox="1"/>
          <p:nvPr/>
        </p:nvSpPr>
        <p:spPr>
          <a:xfrm>
            <a:off x="365759" y="242336"/>
            <a:ext cx="8412482" cy="5303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111111"/>
                </a:solidFill>
                <a:latin typeface="Arial"/>
                <a:ea typeface="Arial"/>
                <a:cs typeface="Arial"/>
                <a:sym typeface="Arial"/>
              </a:defRPr>
            </a:lvl1pPr>
          </a:lstStyle>
          <a:p>
            <a:pPr/>
            <a:r>
              <a:t>PID Controller — Design &amp; Tuning</a:t>
            </a:r>
          </a:p>
        </p:txBody>
      </p:sp>
      <p:sp>
        <p:nvSpPr>
          <p:cNvPr id="139" name="Text 2"/>
          <p:cNvSpPr txBox="1"/>
          <p:nvPr/>
        </p:nvSpPr>
        <p:spPr>
          <a:xfrm>
            <a:off x="365759" y="1068599"/>
            <a:ext cx="3657601"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11111"/>
                </a:solidFill>
                <a:latin typeface="Arial"/>
                <a:ea typeface="Arial"/>
                <a:cs typeface="Arial"/>
                <a:sym typeface="Arial"/>
              </a:defRPr>
            </a:lvl1pPr>
          </a:lstStyle>
          <a:p>
            <a:pPr/>
            <a:r>
              <a:t>Control Law:</a:t>
            </a:r>
          </a:p>
        </p:txBody>
      </p:sp>
      <p:sp>
        <p:nvSpPr>
          <p:cNvPr id="140" name="Text 3"/>
          <p:cNvSpPr txBox="1"/>
          <p:nvPr/>
        </p:nvSpPr>
        <p:spPr>
          <a:xfrm>
            <a:off x="365759" y="1501023"/>
            <a:ext cx="8321042" cy="27150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i="1" sz="1900">
                <a:solidFill>
                  <a:srgbClr val="111111"/>
                </a:solidFill>
                <a:latin typeface="Arial"/>
                <a:ea typeface="Arial"/>
                <a:cs typeface="Arial"/>
                <a:sym typeface="Arial"/>
              </a:defRPr>
            </a:lvl1pPr>
          </a:lstStyle>
          <a:p>
            <a:pPr/>
            <a:r>
              <a:t>u(t)  =  Kp · e(t)  +  Ki · ∫e(t) dt  +  Kd · de(t)/dt</a:t>
            </a:r>
          </a:p>
        </p:txBody>
      </p:sp>
      <p:sp>
        <p:nvSpPr>
          <p:cNvPr id="141" name="Text 4"/>
          <p:cNvSpPr txBox="1"/>
          <p:nvPr/>
        </p:nvSpPr>
        <p:spPr>
          <a:xfrm>
            <a:off x="365759" y="2116488"/>
            <a:ext cx="8321042"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Kp — Proportional Gain: </a:t>
            </a:r>
            <a:r>
              <a:rPr b="0"/>
              <a:t>Directly proportional response to current acceleration error. Controls how aggressively the servo reacts to present vibration.</a:t>
            </a:r>
          </a:p>
        </p:txBody>
      </p:sp>
      <p:sp>
        <p:nvSpPr>
          <p:cNvPr id="142" name="Text 5"/>
          <p:cNvSpPr txBox="1"/>
          <p:nvPr/>
        </p:nvSpPr>
        <p:spPr>
          <a:xfrm>
            <a:off x="365759" y="2848008"/>
            <a:ext cx="8321042"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Ki — Integral Gain: </a:t>
            </a:r>
            <a:r>
              <a:rPr b="0"/>
              <a:t>Accumulates past error over time. Eliminates steady-state offset and drift in the accelerometer reading.</a:t>
            </a:r>
          </a:p>
        </p:txBody>
      </p:sp>
      <p:sp>
        <p:nvSpPr>
          <p:cNvPr id="143" name="Text 6"/>
          <p:cNvSpPr txBox="1"/>
          <p:nvPr/>
        </p:nvSpPr>
        <p:spPr>
          <a:xfrm>
            <a:off x="365759" y="3579528"/>
            <a:ext cx="8321042"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Kd — Derivative Gain: </a:t>
            </a:r>
            <a:r>
              <a:rPr b="0"/>
              <a:t>Reacts to rate of change of error. Provides predictive damping, preventing overshoot and improving settling time.</a:t>
            </a:r>
          </a:p>
        </p:txBody>
      </p:sp>
      <p:sp>
        <p:nvSpPr>
          <p:cNvPr id="144" name="Text 7"/>
          <p:cNvSpPr txBox="1"/>
          <p:nvPr/>
        </p:nvSpPr>
        <p:spPr>
          <a:xfrm>
            <a:off x="365759" y="4311048"/>
            <a:ext cx="8321042"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e(t) — Error Signal: </a:t>
            </a:r>
            <a:r>
              <a:rPr b="0"/>
              <a:t>Difference between desired acceleration (setpoint = 0 m/s²) and measured acceleration from MPU6050.</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6" name="pasted-movie.heic" descr="pasted-movie.heic"/>
          <p:cNvPicPr>
            <a:picLocks noChangeAspect="1"/>
          </p:cNvPicPr>
          <p:nvPr/>
        </p:nvPicPr>
        <p:blipFill>
          <a:blip r:embed="rId2">
            <a:extLst/>
          </a:blip>
          <a:stretch>
            <a:fillRect/>
          </a:stretch>
        </p:blipFill>
        <p:spPr>
          <a:xfrm>
            <a:off x="717680" y="0"/>
            <a:ext cx="3857626" cy="5143501"/>
          </a:xfrm>
          <a:prstGeom prst="rect">
            <a:avLst/>
          </a:prstGeom>
          <a:ln w="12700">
            <a:miter lim="400000"/>
          </a:ln>
        </p:spPr>
      </p:pic>
      <p:pic>
        <p:nvPicPr>
          <p:cNvPr id="147" name="pasted-movie.heic" descr="pasted-movie.heic"/>
          <p:cNvPicPr>
            <a:picLocks noChangeAspect="1"/>
          </p:cNvPicPr>
          <p:nvPr/>
        </p:nvPicPr>
        <p:blipFill>
          <a:blip r:embed="rId3">
            <a:extLst/>
          </a:blip>
          <a:stretch>
            <a:fillRect/>
          </a:stretch>
        </p:blipFill>
        <p:spPr>
          <a:xfrm>
            <a:off x="4566176" y="0"/>
            <a:ext cx="3857626" cy="5143501"/>
          </a:xfrm>
          <a:prstGeom prst="rect">
            <a:avLst/>
          </a:prstGeom>
          <a:ln w="12700">
            <a:miter lim="400000"/>
          </a:ln>
        </p:spPr>
      </p:pic>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49" name="Image" descr="Image"/>
          <p:cNvPicPr>
            <a:picLocks noChangeAspect="1"/>
          </p:cNvPicPr>
          <p:nvPr/>
        </p:nvPicPr>
        <p:blipFill>
          <a:blip r:embed="rId2">
            <a:extLst/>
          </a:blip>
          <a:stretch>
            <a:fillRect/>
          </a:stretch>
        </p:blipFill>
        <p:spPr>
          <a:xfrm rot="16200000">
            <a:off x="2530753" y="-784194"/>
            <a:ext cx="4511120" cy="6711888"/>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C8E6F5"/>
        </a:solidFill>
      </p:bgPr>
    </p:bg>
    <p:spTree>
      <p:nvGrpSpPr>
        <p:cNvPr id="1" name=""/>
        <p:cNvGrpSpPr/>
        <p:nvPr/>
      </p:nvGrpSpPr>
      <p:grpSpPr>
        <a:xfrm>
          <a:off x="0" y="0"/>
          <a:ext cx="0" cy="0"/>
          <a:chOff x="0" y="0"/>
          <a:chExt cx="0" cy="0"/>
        </a:xfrm>
      </p:grpSpPr>
      <p:sp>
        <p:nvSpPr>
          <p:cNvPr id="151" name="Shape 0"/>
          <p:cNvSpPr/>
          <p:nvPr/>
        </p:nvSpPr>
        <p:spPr>
          <a:xfrm>
            <a:off x="-2286000" y="3017520"/>
            <a:ext cx="13716000" cy="4572001"/>
          </a:xfrm>
          <a:prstGeom prst="ellipse">
            <a:avLst/>
          </a:prstGeom>
          <a:solidFill>
            <a:srgbClr val="FFFFFF"/>
          </a:solidFill>
          <a:ln w="12700">
            <a:solidFill>
              <a:srgbClr val="FFFFFF"/>
            </a:solidFill>
          </a:ln>
        </p:spPr>
        <p:txBody>
          <a:bodyPr lIns="45719" rIns="45719"/>
          <a:lstStyle/>
          <a:p>
            <a:pPr/>
          </a:p>
        </p:txBody>
      </p:sp>
      <p:sp>
        <p:nvSpPr>
          <p:cNvPr id="152" name="Text 1"/>
          <p:cNvSpPr txBox="1"/>
          <p:nvPr/>
        </p:nvSpPr>
        <p:spPr>
          <a:xfrm>
            <a:off x="365759" y="242336"/>
            <a:ext cx="8412482" cy="5303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111111"/>
                </a:solidFill>
                <a:latin typeface="Arial"/>
                <a:ea typeface="Arial"/>
                <a:cs typeface="Arial"/>
                <a:sym typeface="Arial"/>
              </a:defRPr>
            </a:lvl1pPr>
          </a:lstStyle>
          <a:p>
            <a:pPr/>
            <a:r>
              <a:t>Experimental Setup &amp; Hardware</a:t>
            </a:r>
          </a:p>
        </p:txBody>
      </p:sp>
      <p:sp>
        <p:nvSpPr>
          <p:cNvPr id="153" name="Text 2"/>
          <p:cNvSpPr txBox="1"/>
          <p:nvPr/>
        </p:nvSpPr>
        <p:spPr>
          <a:xfrm>
            <a:off x="365759" y="1211232"/>
            <a:ext cx="4160522"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1. Acrylic Columns (×16)</a:t>
            </a:r>
          </a:p>
          <a:p>
            <a:pPr>
              <a:defRPr b="1" sz="1300">
                <a:solidFill>
                  <a:srgbClr val="111111"/>
                </a:solidFill>
                <a:latin typeface="Arial"/>
                <a:ea typeface="Arial"/>
                <a:cs typeface="Arial"/>
                <a:sym typeface="Arial"/>
              </a:defRPr>
            </a:pPr>
            <a:r>
              <a:rPr b="0"/>
              <a:t>Vertical load-bearing members, transparent, lightweight</a:t>
            </a:r>
          </a:p>
        </p:txBody>
      </p:sp>
      <p:sp>
        <p:nvSpPr>
          <p:cNvPr id="154" name="Shape 3"/>
          <p:cNvSpPr/>
          <p:nvPr/>
        </p:nvSpPr>
        <p:spPr>
          <a:xfrm>
            <a:off x="365760" y="1883664"/>
            <a:ext cx="3840480" cy="1"/>
          </a:xfrm>
          <a:prstGeom prst="line">
            <a:avLst/>
          </a:prstGeom>
          <a:ln w="12700">
            <a:solidFill>
              <a:srgbClr val="AACCDD"/>
            </a:solidFill>
          </a:ln>
        </p:spPr>
        <p:txBody>
          <a:bodyPr lIns="45719" rIns="45719"/>
          <a:lstStyle/>
          <a:p>
            <a:pPr/>
          </a:p>
        </p:txBody>
      </p:sp>
      <p:sp>
        <p:nvSpPr>
          <p:cNvPr id="155" name="Text 4"/>
          <p:cNvSpPr txBox="1"/>
          <p:nvPr/>
        </p:nvSpPr>
        <p:spPr>
          <a:xfrm>
            <a:off x="365759" y="2171352"/>
            <a:ext cx="4160522"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2. MDF Floor Slabs (×6)</a:t>
            </a:r>
          </a:p>
          <a:p>
            <a:pPr>
              <a:defRPr b="1" sz="1300">
                <a:solidFill>
                  <a:srgbClr val="111111"/>
                </a:solidFill>
                <a:latin typeface="Arial"/>
                <a:ea typeface="Arial"/>
                <a:cs typeface="Arial"/>
                <a:sym typeface="Arial"/>
              </a:defRPr>
            </a:pPr>
            <a:r>
              <a:rPr b="0"/>
              <a:t>Simulates floor mass; 3 storeys at equal spacing</a:t>
            </a:r>
          </a:p>
        </p:txBody>
      </p:sp>
      <p:sp>
        <p:nvSpPr>
          <p:cNvPr id="156" name="Shape 5"/>
          <p:cNvSpPr/>
          <p:nvPr/>
        </p:nvSpPr>
        <p:spPr>
          <a:xfrm>
            <a:off x="365760" y="2843783"/>
            <a:ext cx="3840480" cy="1"/>
          </a:xfrm>
          <a:prstGeom prst="line">
            <a:avLst/>
          </a:prstGeom>
          <a:ln w="12700">
            <a:solidFill>
              <a:srgbClr val="AACCDD"/>
            </a:solidFill>
          </a:ln>
        </p:spPr>
        <p:txBody>
          <a:bodyPr lIns="45719" rIns="45719"/>
          <a:lstStyle/>
          <a:p>
            <a:pPr/>
          </a:p>
        </p:txBody>
      </p:sp>
      <p:sp>
        <p:nvSpPr>
          <p:cNvPr id="157" name="Text 6"/>
          <p:cNvSpPr txBox="1"/>
          <p:nvPr/>
        </p:nvSpPr>
        <p:spPr>
          <a:xfrm>
            <a:off x="365759" y="3131472"/>
            <a:ext cx="4160522"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3. Base Plate (MDF)</a:t>
            </a:r>
          </a:p>
          <a:p>
            <a:pPr>
              <a:defRPr b="1" sz="1300">
                <a:solidFill>
                  <a:srgbClr val="111111"/>
                </a:solidFill>
                <a:latin typeface="Arial"/>
                <a:ea typeface="Arial"/>
                <a:cs typeface="Arial"/>
                <a:sym typeface="Arial"/>
              </a:defRPr>
            </a:pPr>
            <a:r>
              <a:rPr b="0"/>
              <a:t>Houses Arduino Mega and provides mounting for springs</a:t>
            </a:r>
          </a:p>
        </p:txBody>
      </p:sp>
      <p:sp>
        <p:nvSpPr>
          <p:cNvPr id="158" name="Shape 7"/>
          <p:cNvSpPr/>
          <p:nvPr/>
        </p:nvSpPr>
        <p:spPr>
          <a:xfrm>
            <a:off x="365760" y="3803903"/>
            <a:ext cx="3840480" cy="1"/>
          </a:xfrm>
          <a:prstGeom prst="line">
            <a:avLst/>
          </a:prstGeom>
          <a:ln w="12700">
            <a:solidFill>
              <a:srgbClr val="AACCDD"/>
            </a:solidFill>
          </a:ln>
        </p:spPr>
        <p:txBody>
          <a:bodyPr lIns="45719" rIns="45719"/>
          <a:lstStyle/>
          <a:p>
            <a:pPr/>
          </a:p>
        </p:txBody>
      </p:sp>
      <p:sp>
        <p:nvSpPr>
          <p:cNvPr id="159" name="Text 8"/>
          <p:cNvSpPr txBox="1"/>
          <p:nvPr/>
        </p:nvSpPr>
        <p:spPr>
          <a:xfrm>
            <a:off x="365759" y="4091592"/>
            <a:ext cx="4160522"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4. Coil Springs (×4)</a:t>
            </a:r>
          </a:p>
          <a:p>
            <a:pPr>
              <a:defRPr b="1" sz="1300">
                <a:solidFill>
                  <a:srgbClr val="111111"/>
                </a:solidFill>
                <a:latin typeface="Arial"/>
                <a:ea typeface="Arial"/>
                <a:cs typeface="Arial"/>
                <a:sym typeface="Arial"/>
              </a:defRPr>
            </a:pPr>
            <a:r>
              <a:rPr b="0"/>
              <a:t>Passive isolation at base corners; tuned for stiffness</a:t>
            </a:r>
          </a:p>
        </p:txBody>
      </p:sp>
      <p:sp>
        <p:nvSpPr>
          <p:cNvPr id="160" name="Text 9"/>
          <p:cNvSpPr txBox="1"/>
          <p:nvPr/>
        </p:nvSpPr>
        <p:spPr>
          <a:xfrm>
            <a:off x="4800600" y="1211232"/>
            <a:ext cx="4160521"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5. Arduino Mega</a:t>
            </a:r>
          </a:p>
          <a:p>
            <a:pPr>
              <a:defRPr b="1" sz="1300">
                <a:solidFill>
                  <a:srgbClr val="111111"/>
                </a:solidFill>
                <a:latin typeface="Arial"/>
                <a:ea typeface="Arial"/>
                <a:cs typeface="Arial"/>
                <a:sym typeface="Arial"/>
              </a:defRPr>
            </a:pPr>
            <a:r>
              <a:rPr b="0"/>
              <a:t>Main controller; runs PID loop and servo PWM output</a:t>
            </a:r>
          </a:p>
        </p:txBody>
      </p:sp>
      <p:sp>
        <p:nvSpPr>
          <p:cNvPr id="161" name="Shape 10"/>
          <p:cNvSpPr/>
          <p:nvPr/>
        </p:nvSpPr>
        <p:spPr>
          <a:xfrm>
            <a:off x="4800600" y="1883664"/>
            <a:ext cx="3840480" cy="1"/>
          </a:xfrm>
          <a:prstGeom prst="line">
            <a:avLst/>
          </a:prstGeom>
          <a:ln w="12700">
            <a:solidFill>
              <a:srgbClr val="AACCDD"/>
            </a:solidFill>
          </a:ln>
        </p:spPr>
        <p:txBody>
          <a:bodyPr lIns="45719" rIns="45719"/>
          <a:lstStyle/>
          <a:p>
            <a:pPr/>
          </a:p>
        </p:txBody>
      </p:sp>
      <p:sp>
        <p:nvSpPr>
          <p:cNvPr id="162" name="Text 11"/>
          <p:cNvSpPr txBox="1"/>
          <p:nvPr/>
        </p:nvSpPr>
        <p:spPr>
          <a:xfrm>
            <a:off x="4800600" y="2171352"/>
            <a:ext cx="4160521"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6. MPU6050 Accelerometer</a:t>
            </a:r>
          </a:p>
          <a:p>
            <a:pPr>
              <a:defRPr b="1" sz="1300">
                <a:solidFill>
                  <a:srgbClr val="111111"/>
                </a:solidFill>
                <a:latin typeface="Arial"/>
                <a:ea typeface="Arial"/>
                <a:cs typeface="Arial"/>
                <a:sym typeface="Arial"/>
              </a:defRPr>
            </a:pPr>
            <a:r>
              <a:rPr b="0"/>
              <a:t>Mounted on 2nd floor; I²C interface, 6-axis sensing</a:t>
            </a:r>
          </a:p>
        </p:txBody>
      </p:sp>
      <p:sp>
        <p:nvSpPr>
          <p:cNvPr id="163" name="Shape 12"/>
          <p:cNvSpPr/>
          <p:nvPr/>
        </p:nvSpPr>
        <p:spPr>
          <a:xfrm>
            <a:off x="4800600" y="2843783"/>
            <a:ext cx="3840480" cy="1"/>
          </a:xfrm>
          <a:prstGeom prst="line">
            <a:avLst/>
          </a:prstGeom>
          <a:ln w="12700">
            <a:solidFill>
              <a:srgbClr val="AACCDD"/>
            </a:solidFill>
          </a:ln>
        </p:spPr>
        <p:txBody>
          <a:bodyPr lIns="45719" rIns="45719"/>
          <a:lstStyle/>
          <a:p>
            <a:pPr/>
          </a:p>
        </p:txBody>
      </p:sp>
      <p:sp>
        <p:nvSpPr>
          <p:cNvPr id="164" name="Text 13"/>
          <p:cNvSpPr txBox="1"/>
          <p:nvPr/>
        </p:nvSpPr>
        <p:spPr>
          <a:xfrm>
            <a:off x="4800600" y="3036222"/>
            <a:ext cx="4160521" cy="566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7. High-Torque Servo</a:t>
            </a:r>
          </a:p>
          <a:p>
            <a:pPr>
              <a:defRPr b="1" sz="1300">
                <a:solidFill>
                  <a:srgbClr val="111111"/>
                </a:solidFill>
                <a:latin typeface="Arial"/>
                <a:ea typeface="Arial"/>
                <a:cs typeface="Arial"/>
                <a:sym typeface="Arial"/>
              </a:defRPr>
            </a:pPr>
            <a:r>
              <a:rPr b="0"/>
              <a:t>Active actuator; attached to frame column; counter-torque</a:t>
            </a:r>
          </a:p>
        </p:txBody>
      </p:sp>
      <p:sp>
        <p:nvSpPr>
          <p:cNvPr id="165" name="Shape 14"/>
          <p:cNvSpPr/>
          <p:nvPr/>
        </p:nvSpPr>
        <p:spPr>
          <a:xfrm>
            <a:off x="4800600" y="3803903"/>
            <a:ext cx="3840480" cy="1"/>
          </a:xfrm>
          <a:prstGeom prst="line">
            <a:avLst/>
          </a:prstGeom>
          <a:ln w="12700">
            <a:solidFill>
              <a:srgbClr val="AACCDD"/>
            </a:solidFill>
          </a:ln>
        </p:spPr>
        <p:txBody>
          <a:bodyPr lIns="45719" rIns="45719"/>
          <a:lstStyle/>
          <a:p>
            <a:pPr/>
          </a:p>
        </p:txBody>
      </p:sp>
      <p:sp>
        <p:nvSpPr>
          <p:cNvPr id="166" name="Text 15"/>
          <p:cNvSpPr txBox="1"/>
          <p:nvPr/>
        </p:nvSpPr>
        <p:spPr>
          <a:xfrm>
            <a:off x="4800600" y="4091592"/>
            <a:ext cx="4160521"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300">
                <a:solidFill>
                  <a:srgbClr val="111111"/>
                </a:solidFill>
                <a:latin typeface="Arial"/>
                <a:ea typeface="Arial"/>
                <a:cs typeface="Arial"/>
                <a:sym typeface="Arial"/>
              </a:defRPr>
            </a:pPr>
            <a:r>
              <a:t>8. Power Supply</a:t>
            </a:r>
          </a:p>
          <a:p>
            <a:pPr>
              <a:defRPr b="1" sz="1300">
                <a:solidFill>
                  <a:srgbClr val="111111"/>
                </a:solidFill>
                <a:latin typeface="Arial"/>
                <a:ea typeface="Arial"/>
                <a:cs typeface="Arial"/>
                <a:sym typeface="Arial"/>
              </a:defRPr>
            </a:pPr>
            <a:r>
              <a:rPr b="0"/>
              <a:t>USB 5V for Arduino; separate 5V/2A rail for servo</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C8E6F5"/>
        </a:solidFill>
      </p:bgPr>
    </p:bg>
    <p:spTree>
      <p:nvGrpSpPr>
        <p:cNvPr id="1" name=""/>
        <p:cNvGrpSpPr/>
        <p:nvPr/>
      </p:nvGrpSpPr>
      <p:grpSpPr>
        <a:xfrm>
          <a:off x="0" y="0"/>
          <a:ext cx="0" cy="0"/>
          <a:chOff x="0" y="0"/>
          <a:chExt cx="0" cy="0"/>
        </a:xfrm>
      </p:grpSpPr>
      <p:sp>
        <p:nvSpPr>
          <p:cNvPr id="168" name="Shape 0"/>
          <p:cNvSpPr/>
          <p:nvPr/>
        </p:nvSpPr>
        <p:spPr>
          <a:xfrm>
            <a:off x="-2286000" y="3017520"/>
            <a:ext cx="13716000" cy="4572001"/>
          </a:xfrm>
          <a:prstGeom prst="ellipse">
            <a:avLst/>
          </a:prstGeom>
          <a:solidFill>
            <a:srgbClr val="FFFFFF"/>
          </a:solidFill>
          <a:ln w="12700">
            <a:solidFill>
              <a:srgbClr val="FFFFFF"/>
            </a:solidFill>
          </a:ln>
        </p:spPr>
        <p:txBody>
          <a:bodyPr lIns="45719" rIns="45719"/>
          <a:lstStyle/>
          <a:p>
            <a:pPr/>
          </a:p>
        </p:txBody>
      </p:sp>
      <p:sp>
        <p:nvSpPr>
          <p:cNvPr id="169" name="Text 1"/>
          <p:cNvSpPr txBox="1"/>
          <p:nvPr/>
        </p:nvSpPr>
        <p:spPr>
          <a:xfrm>
            <a:off x="365759" y="242336"/>
            <a:ext cx="8412482" cy="53031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800">
                <a:solidFill>
                  <a:srgbClr val="111111"/>
                </a:solidFill>
                <a:latin typeface="Arial"/>
                <a:ea typeface="Arial"/>
                <a:cs typeface="Arial"/>
                <a:sym typeface="Arial"/>
              </a:defRPr>
            </a:lvl1pPr>
          </a:lstStyle>
          <a:p>
            <a:pPr/>
            <a:r>
              <a:t>Conclusion &amp; Future Work</a:t>
            </a:r>
          </a:p>
        </p:txBody>
      </p:sp>
      <p:sp>
        <p:nvSpPr>
          <p:cNvPr id="170" name="Text 2"/>
          <p:cNvSpPr txBox="1"/>
          <p:nvPr/>
        </p:nvSpPr>
        <p:spPr>
          <a:xfrm>
            <a:off x="365759" y="1004245"/>
            <a:ext cx="8229601"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111111"/>
                </a:solidFill>
                <a:latin typeface="Arial"/>
                <a:ea typeface="Arial"/>
                <a:cs typeface="Arial"/>
                <a:sym typeface="Arial"/>
              </a:defRPr>
            </a:lvl1pPr>
          </a:lstStyle>
          <a:p>
            <a:pPr/>
            <a:r>
              <a:t>Key Conclusions</a:t>
            </a:r>
          </a:p>
        </p:txBody>
      </p:sp>
      <p:sp>
        <p:nvSpPr>
          <p:cNvPr id="171" name="Text 3"/>
          <p:cNvSpPr txBox="1"/>
          <p:nvPr/>
        </p:nvSpPr>
        <p:spPr>
          <a:xfrm>
            <a:off x="365759" y="1384968"/>
            <a:ext cx="8321042" cy="3756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111111"/>
                </a:solidFill>
                <a:latin typeface="Arial"/>
                <a:ea typeface="Arial"/>
                <a:cs typeface="Arial"/>
                <a:sym typeface="Arial"/>
              </a:defRPr>
            </a:lvl1pPr>
          </a:lstStyle>
          <a:p>
            <a:pPr/>
            <a:r>
              <a:t>• 3-storey acrylic scale model designed, fabricated, and simulated in ANSYS 2025 R2. Natural frequencies validated: 4.846 Hz (Mode 1), 13.506 Hz (Mode 2).</a:t>
            </a:r>
          </a:p>
        </p:txBody>
      </p:sp>
      <p:sp>
        <p:nvSpPr>
          <p:cNvPr id="172" name="Text 4"/>
          <p:cNvSpPr txBox="1"/>
          <p:nvPr/>
        </p:nvSpPr>
        <p:spPr>
          <a:xfrm>
            <a:off x="365759" y="1919130"/>
            <a:ext cx="832104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111111"/>
                </a:solidFill>
                <a:latin typeface="Arial"/>
                <a:ea typeface="Arial"/>
                <a:cs typeface="Arial"/>
                <a:sym typeface="Arial"/>
              </a:defRPr>
            </a:lvl1pPr>
          </a:lstStyle>
          <a:p>
            <a:pPr/>
            <a:r>
              <a:t>• Harmonic response confirmed maximum deformation near resonance; results informed passive spring selection.</a:t>
            </a:r>
          </a:p>
        </p:txBody>
      </p:sp>
      <p:sp>
        <p:nvSpPr>
          <p:cNvPr id="173" name="Text 5"/>
          <p:cNvSpPr txBox="1"/>
          <p:nvPr/>
        </p:nvSpPr>
        <p:spPr>
          <a:xfrm>
            <a:off x="365759" y="2358042"/>
            <a:ext cx="832104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111111"/>
                </a:solidFill>
                <a:latin typeface="Arial"/>
                <a:ea typeface="Arial"/>
                <a:cs typeface="Arial"/>
                <a:sym typeface="Arial"/>
              </a:defRPr>
            </a:lvl1pPr>
          </a:lstStyle>
          <a:p>
            <a:pPr/>
            <a:r>
              <a:t>• Spring-based passive isolation.</a:t>
            </a:r>
          </a:p>
        </p:txBody>
      </p:sp>
      <p:sp>
        <p:nvSpPr>
          <p:cNvPr id="174" name="Text 6"/>
          <p:cNvSpPr txBox="1"/>
          <p:nvPr/>
        </p:nvSpPr>
        <p:spPr>
          <a:xfrm>
            <a:off x="365759" y="2796954"/>
            <a:ext cx="832104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111111"/>
                </a:solidFill>
                <a:latin typeface="Arial"/>
                <a:ea typeface="Arial"/>
                <a:cs typeface="Arial"/>
                <a:sym typeface="Arial"/>
              </a:defRPr>
            </a:lvl1pPr>
          </a:lstStyle>
          <a:p>
            <a:pPr/>
            <a:r>
              <a:t>• Full hybrid system (Arduino + MPU6050 + Servo, PID-controlled).</a:t>
            </a:r>
          </a:p>
        </p:txBody>
      </p:sp>
      <p:sp>
        <p:nvSpPr>
          <p:cNvPr id="175" name="Text 7"/>
          <p:cNvSpPr txBox="1"/>
          <p:nvPr/>
        </p:nvSpPr>
        <p:spPr>
          <a:xfrm>
            <a:off x="365759" y="3235866"/>
            <a:ext cx="8321042"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300">
                <a:solidFill>
                  <a:srgbClr val="111111"/>
                </a:solidFill>
                <a:latin typeface="Arial"/>
                <a:ea typeface="Arial"/>
                <a:cs typeface="Arial"/>
                <a:sym typeface="Arial"/>
              </a:defRPr>
            </a:lvl1pPr>
          </a:lstStyle>
          <a:p>
            <a:pPr/>
            <a:r>
              <a:t>• PID gains (Kp, Ki, Kd) tuned iteratively to minimise overshoot and achieve acceptable settling time.</a:t>
            </a:r>
          </a:p>
        </p:txBody>
      </p:sp>
      <p:sp>
        <p:nvSpPr>
          <p:cNvPr id="176" name="Text 8"/>
          <p:cNvSpPr txBox="1"/>
          <p:nvPr/>
        </p:nvSpPr>
        <p:spPr>
          <a:xfrm>
            <a:off x="365759" y="3656005"/>
            <a:ext cx="8229601"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a:solidFill>
                  <a:srgbClr val="111111"/>
                </a:solidFill>
                <a:latin typeface="Arial"/>
                <a:ea typeface="Arial"/>
                <a:cs typeface="Arial"/>
                <a:sym typeface="Arial"/>
              </a:defRPr>
            </a:lvl1pPr>
          </a:lstStyle>
          <a:p>
            <a:pPr/>
            <a:r>
              <a:t>Future Work</a:t>
            </a:r>
          </a:p>
        </p:txBody>
      </p:sp>
      <p:sp>
        <p:nvSpPr>
          <p:cNvPr id="177" name="Text 9"/>
          <p:cNvSpPr txBox="1"/>
          <p:nvPr/>
        </p:nvSpPr>
        <p:spPr>
          <a:xfrm>
            <a:off x="365759" y="4064968"/>
            <a:ext cx="8321042"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11111"/>
                </a:solidFill>
                <a:latin typeface="Arial"/>
                <a:ea typeface="Arial"/>
                <a:cs typeface="Arial"/>
                <a:sym typeface="Arial"/>
              </a:defRPr>
            </a:lvl1pPr>
          </a:lstStyle>
          <a:p>
            <a:pPr/>
            <a:r>
              <a:t>• Multi-directional Control — extend to 2-axis servo actuation for simultaneous X and Y lateral excitations.</a:t>
            </a:r>
          </a:p>
        </p:txBody>
      </p:sp>
      <p:sp>
        <p:nvSpPr>
          <p:cNvPr id="178" name="Text 10"/>
          <p:cNvSpPr txBox="1"/>
          <p:nvPr/>
        </p:nvSpPr>
        <p:spPr>
          <a:xfrm>
            <a:off x="365759" y="4339288"/>
            <a:ext cx="8321042"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11111"/>
                </a:solidFill>
                <a:latin typeface="Arial"/>
                <a:ea typeface="Arial"/>
                <a:cs typeface="Arial"/>
                <a:sym typeface="Arial"/>
              </a:defRPr>
            </a:lvl1pPr>
          </a:lstStyle>
          <a:p>
            <a:pPr/>
            <a:r>
              <a:t>• Adaptive / ML-based Control — replace fixed-gain PID with a reinforcement-learning controller that self-tunes in real time.</a:t>
            </a:r>
          </a:p>
        </p:txBody>
      </p:sp>
      <p:sp>
        <p:nvSpPr>
          <p:cNvPr id="179" name="Text 11"/>
          <p:cNvSpPr txBox="1"/>
          <p:nvPr/>
        </p:nvSpPr>
        <p:spPr>
          <a:xfrm>
            <a:off x="365759" y="4613608"/>
            <a:ext cx="8321042" cy="17281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11111"/>
                </a:solidFill>
                <a:latin typeface="Arial"/>
                <a:ea typeface="Arial"/>
                <a:cs typeface="Arial"/>
                <a:sym typeface="Arial"/>
              </a:defRPr>
            </a:lvl1pPr>
          </a:lstStyle>
          <a:p>
            <a:pPr/>
            <a:r>
              <a:t>• Shake Table Validation — test with recorded seismic waveforms (El Centro, Bhuj) on a calibrated shake table.</a:t>
            </a:r>
          </a:p>
        </p:txBody>
      </p:sp>
      <p:sp>
        <p:nvSpPr>
          <p:cNvPr id="180" name="Text 12"/>
          <p:cNvSpPr txBox="1"/>
          <p:nvPr/>
        </p:nvSpPr>
        <p:spPr>
          <a:xfrm>
            <a:off x="365759" y="4887928"/>
            <a:ext cx="8321042" cy="17281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200">
                <a:solidFill>
                  <a:srgbClr val="111111"/>
                </a:solidFill>
                <a:latin typeface="Arial"/>
                <a:ea typeface="Arial"/>
                <a:cs typeface="Arial"/>
                <a:sym typeface="Arial"/>
              </a:defRPr>
            </a:lvl1pPr>
          </a:lstStyle>
          <a:p>
            <a:pPr/>
            <a:r>
              <a:t>• Full-Scale Feasibility — investigate hydraulic or electromagnetic actuators for real-structure implementation.</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